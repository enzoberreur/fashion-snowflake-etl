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ck_cover_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411480"/>
            <a:ext cx="4572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Georgia"/>
              </a:rPr>
              <a:t>Monogram Paris Data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950976"/>
            <a:ext cx="868680" cy="17780"/>
          </a:xfrm>
          <a:prstGeom prst="rect">
            <a:avLst/>
          </a:prstGeom>
          <a:solidFill>
            <a:srgbClr val="00A9F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517904"/>
            <a:ext cx="566928" cy="64008"/>
          </a:xfrm>
          <a:prstGeom prst="rect">
            <a:avLst/>
          </a:prstGeom>
          <a:solidFill>
            <a:srgbClr val="2251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755648"/>
            <a:ext cx="78638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4000"/>
              </a:lnSpc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Georgia"/>
              </a:rPr>
              <a:t>Real-time retail data, landed,</a:t>
            </a:r>
          </a:p>
          <a:p>
            <a:pPr>
              <a:lnSpc>
                <a:spcPct val="104000"/>
              </a:lnSpc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Georgia"/>
              </a:rPr>
              <a:t>transformed and verified</a:t>
            </a:r>
          </a:p>
          <a:p>
            <a:pPr>
              <a:lnSpc>
                <a:spcPct val="104000"/>
              </a:lnSpc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Georgia"/>
              </a:rPr>
              <a:t>in Snowflake.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645152"/>
            <a:ext cx="74980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D2DCE4"/>
                </a:solidFill>
                <a:latin typeface="Arial"/>
              </a:rPr>
              <a:t>A streaming and batch pipeline for Monogram Paris: Kafka, Snowpipe Streaming, dbt and Airflow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5321808"/>
            <a:ext cx="3291840" cy="11430"/>
          </a:xfrm>
          <a:prstGeom prst="rect">
            <a:avLst/>
          </a:prstGeom>
          <a:solidFill>
            <a:srgbClr val="42586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5468112"/>
            <a:ext cx="74980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FAFBC"/>
                </a:solidFill>
                <a:latin typeface="Arial"/>
              </a:rPr>
              <a:t>June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336792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9FAFBC"/>
                </a:solidFill>
                <a:latin typeface="Arial"/>
              </a:rPr>
              <a:t>RNCP Bloc 3 thesis deliverable. Prepared by Enzo Berreur.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1C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502920"/>
            <a:ext cx="1118311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Georgia"/>
              </a:rPr>
              <a:t>Executive summary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98448"/>
            <a:ext cx="11183112" cy="20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691640"/>
            <a:ext cx="34838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Georgia"/>
              </a:rPr>
              <a:t>Architecture and streaming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194560"/>
            <a:ext cx="3483864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050">
                <a:solidFill>
                  <a:srgbClr val="FFFFFF"/>
                </a:solidFill>
                <a:latin typeface="Arial"/>
              </a:rPr>
              <a:t>- </a:t>
            </a:r>
            <a:r>
              <a:rPr sz="1050" b="0">
                <a:solidFill>
                  <a:srgbClr val="FFFFFF"/>
                </a:solidFill>
                <a:latin typeface="Arial"/>
              </a:rPr>
              <a:t>Three ingestion paths converge in one Snowflake star schema: direct INSERT for speed, Parquet COPY for cost, Kafka for real time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050">
                <a:solidFill>
                  <a:srgbClr val="FFFFFF"/>
                </a:solidFill>
                <a:latin typeface="Arial"/>
              </a:rPr>
              <a:t>- </a:t>
            </a:r>
            <a:r>
              <a:rPr sz="1050" b="0">
                <a:solidFill>
                  <a:srgbClr val="FFFFFF"/>
                </a:solidFill>
                <a:latin typeface="Arial"/>
              </a:rPr>
              <a:t>Exactly-once streaming delivery is engineered, then proven: Kafka offsets double as Snowpipe offset tokens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050">
                <a:solidFill>
                  <a:srgbClr val="FFFFFF"/>
                </a:solidFill>
                <a:latin typeface="Arial"/>
              </a:rPr>
              <a:t>- </a:t>
            </a:r>
            <a:r>
              <a:rPr sz="1050" b="0">
                <a:solidFill>
                  <a:srgbClr val="FFFFFF"/>
                </a:solidFill>
                <a:latin typeface="Arial"/>
              </a:rPr>
              <a:t>A dedicated SQL assertion counts duplicate partition and offset pairs after every run: zero found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52544" y="1691640"/>
            <a:ext cx="34838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Georgia"/>
              </a:rPr>
              <a:t>Engineering quality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52544" y="2194560"/>
            <a:ext cx="3483864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050">
                <a:solidFill>
                  <a:srgbClr val="FFFFFF"/>
                </a:solidFill>
                <a:latin typeface="Arial"/>
              </a:rPr>
              <a:t>- </a:t>
            </a:r>
            <a:r>
              <a:rPr sz="1050" b="0">
                <a:solidFill>
                  <a:srgbClr val="FFFFFF"/>
                </a:solidFill>
                <a:latin typeface="Arial"/>
              </a:rPr>
              <a:t>The pipeline is an installable, typed Python package with 7 CLI entry points, not a folder of scripts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050">
                <a:solidFill>
                  <a:srgbClr val="FFFFFF"/>
                </a:solidFill>
                <a:latin typeface="Arial"/>
              </a:rPr>
              <a:t>- </a:t>
            </a:r>
            <a:r>
              <a:rPr sz="1050" b="0">
                <a:solidFill>
                  <a:srgbClr val="FFFFFF"/>
                </a:solidFill>
                <a:latin typeface="Arial"/>
              </a:rPr>
              <a:t>mypy passes on all 20 modules; ruff is a blocking CI gate; coverage is enforced on every push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050">
                <a:solidFill>
                  <a:srgbClr val="FFFFFF"/>
                </a:solidFill>
                <a:latin typeface="Arial"/>
              </a:rPr>
              <a:t>- </a:t>
            </a:r>
            <a:r>
              <a:rPr sz="1050" b="0">
                <a:solidFill>
                  <a:srgbClr val="FFFFFF"/>
                </a:solidFill>
                <a:latin typeface="Arial"/>
              </a:rPr>
              <a:t>25 unit and data-quality tests run in CI; integration tests cover the Snowflake paths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02168" y="1691640"/>
            <a:ext cx="34838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Georgia"/>
              </a:rPr>
              <a:t>Quality and operations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02168" y="2194560"/>
            <a:ext cx="3483864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050">
                <a:solidFill>
                  <a:srgbClr val="FFFFFF"/>
                </a:solidFill>
                <a:latin typeface="Arial"/>
              </a:rPr>
              <a:t>- </a:t>
            </a:r>
            <a:r>
              <a:rPr sz="1050" b="0">
                <a:solidFill>
                  <a:srgbClr val="FFFFFF"/>
                </a:solidFill>
                <a:latin typeface="Arial"/>
              </a:rPr>
              <a:t>Three layers of controls: 30+ dbt schema tests, singular business-rule tests, 6 operational SQL assertions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050">
                <a:solidFill>
                  <a:srgbClr val="FFFFFF"/>
                </a:solidFill>
                <a:latin typeface="Arial"/>
              </a:rPr>
              <a:t>- </a:t>
            </a:r>
            <a:r>
              <a:rPr sz="1050" b="0">
                <a:solidFill>
                  <a:srgbClr val="FFFFFF"/>
                </a:solidFill>
                <a:latin typeface="Arial"/>
              </a:rPr>
              <a:t>Three Airflow DAGs on three clocks: 4-hour pipeline, daily reference refresh, 5-minute stream monitor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050">
                <a:solidFill>
                  <a:srgbClr val="FFFFFF"/>
                </a:solidFill>
                <a:latin typeface="Arial"/>
              </a:rPr>
              <a:t>- </a:t>
            </a:r>
            <a:r>
              <a:rPr sz="1050" b="0">
                <a:solidFill>
                  <a:srgbClr val="FFFFFF"/>
                </a:solidFill>
                <a:latin typeface="Arial"/>
              </a:rPr>
              <a:t>Explicit SLOs for freshness, latency and run success; any failed check fails the run loudly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65615" y="6510528"/>
            <a:ext cx="2240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AAE6F0"/>
                </a:solidFill>
                <a:latin typeface="Arial"/>
              </a:rPr>
              <a:t>Monogram Paris Data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551615" y="6510528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AAE6F0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383280" y="0"/>
            <a:ext cx="8808415" cy="6858000"/>
          </a:xfrm>
          <a:prstGeom prst="rect">
            <a:avLst/>
          </a:prstGeom>
          <a:solidFill>
            <a:srgbClr val="E8E8E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971800"/>
            <a:ext cx="25603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000000"/>
                </a:solidFill>
                <a:latin typeface="Georgia"/>
              </a:rPr>
              <a:t>Agenda</a:t>
            </a:r>
          </a:p>
        </p:txBody>
      </p:sp>
      <p:sp>
        <p:nvSpPr>
          <p:cNvPr id="5" name="Rectangle 4"/>
          <p:cNvSpPr/>
          <p:nvPr/>
        </p:nvSpPr>
        <p:spPr>
          <a:xfrm>
            <a:off x="5349240" y="2459736"/>
            <a:ext cx="5394960" cy="658368"/>
          </a:xfrm>
          <a:prstGeom prst="rect">
            <a:avLst/>
          </a:prstGeom>
          <a:solidFill>
            <a:srgbClr val="06219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40680" y="2514600"/>
            <a:ext cx="52120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Arial"/>
              </a:rPr>
              <a:t>Architecture and real-time ingestion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40680" y="3227832"/>
            <a:ext cx="52120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0" i="0">
                <a:solidFill>
                  <a:srgbClr val="000000"/>
                </a:solidFill>
                <a:latin typeface="Arial"/>
              </a:rPr>
              <a:t>From raw events to trusted marts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40680" y="3941064"/>
            <a:ext cx="52120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0" i="0">
                <a:solidFill>
                  <a:srgbClr val="000000"/>
                </a:solidFill>
                <a:latin typeface="Arial"/>
              </a:rPr>
              <a:t>Automation and operations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65615" y="6510528"/>
            <a:ext cx="2240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4D4D4D"/>
                </a:solidFill>
                <a:latin typeface="Arial"/>
              </a:rPr>
              <a:t>Monogram Paris Data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551615" y="6510528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4D4D4D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183112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</a:pPr>
            <a:r>
              <a:rPr sz="2100" b="1" i="0">
                <a:solidFill>
                  <a:srgbClr val="000000"/>
                </a:solidFill>
                <a:latin typeface="Georgia"/>
              </a:rPr>
              <a:t>At Monogram Paris, stale data costs margin twice: stockouts in store, markdowns online.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11183112" cy="203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59775" y="6565392"/>
            <a:ext cx="3931920" cy="292608"/>
          </a:xfrm>
          <a:prstGeom prst="rect">
            <a:avLst/>
          </a:prstGeom>
          <a:solidFill>
            <a:srgbClr val="00A9F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96935" y="6611112"/>
            <a:ext cx="36118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051C2C"/>
                </a:solidFill>
                <a:latin typeface="Arial"/>
              </a:rPr>
              <a:t>Architecture and real-time ingestion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4D4D4D"/>
                </a:solidFill>
                <a:latin typeface="Arial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6547104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4D4D4D"/>
                </a:solidFill>
                <a:latin typeface="Arial"/>
              </a:rPr>
              <a:t>Monogram Paris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554480"/>
            <a:ext cx="252145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2251FF"/>
                </a:solidFill>
                <a:latin typeface="Georgia"/>
              </a:rPr>
              <a:t>2 speeds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121408"/>
            <a:ext cx="2475738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 i="0">
                <a:solidFill>
                  <a:srgbClr val="4D4D4D"/>
                </a:solidFill>
                <a:latin typeface="Arial"/>
              </a:rPr>
              <a:t>transactional events flow continuously; reference data changes daily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8698" y="1554480"/>
            <a:ext cx="252145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2251FF"/>
                </a:solidFill>
                <a:latin typeface="Georgia"/>
              </a:rPr>
              <a:t>9 sources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8698" y="2121408"/>
            <a:ext cx="2475738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 i="0">
                <a:solidFill>
                  <a:srgbClr val="4D4D4D"/>
                </a:solidFill>
                <a:latin typeface="Arial"/>
              </a:rPr>
              <a:t>sales, returns, reviews, inventory, plus five master data tables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4476" y="1554480"/>
            <a:ext cx="252145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2251FF"/>
                </a:solidFill>
                <a:latin typeface="Georgia"/>
              </a:rPr>
              <a:t>4 hours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4476" y="2121408"/>
            <a:ext cx="2475738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 i="0">
                <a:solidFill>
                  <a:srgbClr val="4D4D4D"/>
                </a:solidFill>
                <a:latin typeface="Arial"/>
              </a:rPr>
              <a:t>maximum age of warehouse data for merchandising decisions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90254" y="1554480"/>
            <a:ext cx="252145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2251FF"/>
                </a:solidFill>
                <a:latin typeface="Georgia"/>
              </a:rPr>
              <a:t>Minutes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90254" y="2121408"/>
            <a:ext cx="2475738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 i="0">
                <a:solidFill>
                  <a:srgbClr val="4D4D4D"/>
                </a:solidFill>
                <a:latin typeface="Arial"/>
              </a:rPr>
              <a:t>freshness needed on flash-sale revenue, served by the streaming path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3017520"/>
            <a:ext cx="106070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200">
                <a:solidFill>
                  <a:srgbClr val="000000"/>
                </a:solidFill>
                <a:latin typeface="Arial"/>
              </a:rPr>
              <a:t>- </a:t>
            </a:r>
            <a:r>
              <a:rPr sz="1200" b="1">
                <a:solidFill>
                  <a:srgbClr val="000000"/>
                </a:solidFill>
                <a:latin typeface="Arial"/>
              </a:rPr>
              <a:t>Merchandising: </a:t>
            </a:r>
            <a:r>
              <a:rPr sz="1200" b="0">
                <a:solidFill>
                  <a:srgbClr val="000000"/>
                </a:solidFill>
                <a:latin typeface="Arial"/>
              </a:rPr>
              <a:t>buy and replenishment decisions read the star schema; stale stock positions mean empty shelves or end-of-season markdowns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200">
                <a:solidFill>
                  <a:srgbClr val="000000"/>
                </a:solidFill>
                <a:latin typeface="Arial"/>
              </a:rPr>
              <a:t>- </a:t>
            </a:r>
            <a:r>
              <a:rPr sz="1200" b="1">
                <a:solidFill>
                  <a:srgbClr val="000000"/>
                </a:solidFill>
                <a:latin typeface="Arial"/>
              </a:rPr>
              <a:t>E-commerce: </a:t>
            </a:r>
            <a:r>
              <a:rPr sz="1200" b="0">
                <a:solidFill>
                  <a:srgbClr val="000000"/>
                </a:solidFill>
                <a:latin typeface="Arial"/>
              </a:rPr>
              <a:t>during a flash sale the team steers prices and stock by the minute; daily batches are useless that day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200">
                <a:solidFill>
                  <a:srgbClr val="000000"/>
                </a:solidFill>
                <a:latin typeface="Arial"/>
              </a:rPr>
              <a:t>- </a:t>
            </a:r>
            <a:r>
              <a:rPr sz="1200" b="1">
                <a:solidFill>
                  <a:srgbClr val="000000"/>
                </a:solidFill>
                <a:latin typeface="Arial"/>
              </a:rPr>
              <a:t>Trust: </a:t>
            </a:r>
            <a:r>
              <a:rPr sz="1200" b="0">
                <a:solidFill>
                  <a:srgbClr val="000000"/>
                </a:solidFill>
                <a:latin typeface="Arial"/>
              </a:rPr>
              <a:t>returns and review data feed finance and fraud checks; a wrong number is worse than a late one, so every load is verified before it lands in the marts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291072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4D4D4D"/>
                </a:solidFill>
                <a:latin typeface="Arial"/>
              </a:rPr>
              <a:t>Source: Business framing: docs/ARCHITECTURE.md; scope: README.md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183112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</a:pPr>
            <a:r>
              <a:rPr sz="2100" b="1" i="0">
                <a:solidFill>
                  <a:srgbClr val="000000"/>
                </a:solidFill>
                <a:latin typeface="Georgia"/>
              </a:rPr>
              <a:t>Three ingestion paths, one governed warehouse: every row crosses the same quality gate.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11183112" cy="203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59775" y="6565392"/>
            <a:ext cx="3931920" cy="292608"/>
          </a:xfrm>
          <a:prstGeom prst="rect">
            <a:avLst/>
          </a:prstGeom>
          <a:solidFill>
            <a:srgbClr val="00A9F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96935" y="6611112"/>
            <a:ext cx="36118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051C2C"/>
                </a:solidFill>
                <a:latin typeface="Arial"/>
              </a:rPr>
              <a:t>Architecture and real-time ingestion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4D4D4D"/>
                </a:solidFill>
                <a:latin typeface="Arial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6547104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4D4D4D"/>
                </a:solidFill>
                <a:latin typeface="Arial"/>
              </a:rPr>
              <a:t>Monogram Paris Data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828800"/>
            <a:ext cx="1627632" cy="566928"/>
          </a:xfrm>
          <a:prstGeom prst="roundRect">
            <a:avLst>
              <a:gd name="adj" fmla="val 12000"/>
            </a:avLst>
          </a:prstGeom>
          <a:solidFill>
            <a:srgbClr val="E8E8E6"/>
          </a:solidFill>
          <a:ln>
            <a:noFill/>
          </a:ln>
          <a:effectLst/>
        </p:spPr>
        <p:txBody>
          <a:bodyPr rtlCol="0" anchor="ctr" wrap="square" lIns="54864" rIns="54864" tIns="27432" bIns="27432"/>
          <a:lstStyle/>
          <a:p>
            <a:pPr algn="ctr"/>
            <a:r>
              <a:rPr sz="1050" b="1">
                <a:solidFill>
                  <a:srgbClr val="000000"/>
                </a:solidFill>
                <a:latin typeface="Arial"/>
              </a:rPr>
              <a:t>Data generator</a:t>
            </a:r>
          </a:p>
          <a:p>
            <a:pPr algn="ctr"/>
            <a:r>
              <a:rPr sz="800">
                <a:solidFill>
                  <a:srgbClr val="051C2C"/>
                </a:solidFill>
                <a:latin typeface="Arial"/>
              </a:rPr>
              <a:t>Faker, 9 tables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926080"/>
            <a:ext cx="1627632" cy="566928"/>
          </a:xfrm>
          <a:prstGeom prst="roundRect">
            <a:avLst>
              <a:gd name="adj" fmla="val 12000"/>
            </a:avLst>
          </a:prstGeom>
          <a:solidFill>
            <a:srgbClr val="E8E8E6"/>
          </a:solidFill>
          <a:ln>
            <a:noFill/>
          </a:ln>
          <a:effectLst/>
        </p:spPr>
        <p:txBody>
          <a:bodyPr rtlCol="0" anchor="ctr" wrap="square" lIns="54864" rIns="54864" tIns="27432" bIns="27432"/>
          <a:lstStyle/>
          <a:p>
            <a:pPr algn="ctr"/>
            <a:r>
              <a:rPr sz="1050" b="1">
                <a:solidFill>
                  <a:srgbClr val="000000"/>
                </a:solidFill>
                <a:latin typeface="Arial"/>
              </a:rPr>
              <a:t>Event producer</a:t>
            </a:r>
          </a:p>
          <a:p>
            <a:pPr algn="ctr"/>
            <a:r>
              <a:rPr sz="800">
                <a:solidFill>
                  <a:srgbClr val="051C2C"/>
                </a:solidFill>
                <a:latin typeface="Arial"/>
              </a:rPr>
              <a:t>sales events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43200" y="1481328"/>
            <a:ext cx="1627632" cy="566928"/>
          </a:xfrm>
          <a:prstGeom prst="roundRect">
            <a:avLst>
              <a:gd name="adj" fmla="val 12000"/>
            </a:avLst>
          </a:prstGeom>
          <a:solidFill>
            <a:srgbClr val="2251FF"/>
          </a:solidFill>
          <a:ln>
            <a:noFill/>
          </a:ln>
          <a:effectLst/>
        </p:spPr>
        <p:txBody>
          <a:bodyPr rtlCol="0" anchor="ctr" wrap="square" lIns="54864" rIns="54864" tIns="27432" bIns="27432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Direct INSERT</a:t>
            </a:r>
          </a:p>
          <a:p>
            <a:pPr algn="ctr"/>
            <a:r>
              <a:rPr sz="800">
                <a:solidFill>
                  <a:srgbClr val="AAE6F0"/>
                </a:solidFill>
                <a:latin typeface="Arial"/>
              </a:rPr>
              <a:t>transactional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43200" y="2212848"/>
            <a:ext cx="1627632" cy="566928"/>
          </a:xfrm>
          <a:prstGeom prst="roundRect">
            <a:avLst>
              <a:gd name="adj" fmla="val 12000"/>
            </a:avLst>
          </a:prstGeom>
          <a:solidFill>
            <a:srgbClr val="2251FF"/>
          </a:solidFill>
          <a:ln>
            <a:noFill/>
          </a:ln>
          <a:effectLst/>
        </p:spPr>
        <p:txBody>
          <a:bodyPr rtlCol="0" anchor="ctr" wrap="square" lIns="54864" rIns="54864" tIns="27432" bIns="27432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Parquet + COPY</a:t>
            </a:r>
          </a:p>
          <a:p>
            <a:pPr algn="ctr"/>
            <a:r>
              <a:rPr sz="800">
                <a:solidFill>
                  <a:srgbClr val="AAE6F0"/>
                </a:solidFill>
                <a:latin typeface="Arial"/>
              </a:rPr>
              <a:t>reference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43200" y="3127248"/>
            <a:ext cx="1627632" cy="566928"/>
          </a:xfrm>
          <a:prstGeom prst="roundRect">
            <a:avLst>
              <a:gd name="adj" fmla="val 12000"/>
            </a:avLst>
          </a:prstGeom>
          <a:solidFill>
            <a:srgbClr val="2251FF"/>
          </a:solidFill>
          <a:ln>
            <a:noFill/>
          </a:ln>
          <a:effectLst/>
        </p:spPr>
        <p:txBody>
          <a:bodyPr rtlCol="0" anchor="ctr" wrap="square" lIns="54864" rIns="54864" tIns="27432" bIns="27432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Redpanda Kafka</a:t>
            </a:r>
          </a:p>
          <a:p>
            <a:pPr algn="ctr"/>
            <a:r>
              <a:rPr sz="800">
                <a:solidFill>
                  <a:srgbClr val="AAE6F0"/>
                </a:solidFill>
                <a:latin typeface="Arial"/>
              </a:rPr>
              <a:t>3 partitions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43200" y="3858768"/>
            <a:ext cx="1627632" cy="566928"/>
          </a:xfrm>
          <a:prstGeom prst="roundRect">
            <a:avLst>
              <a:gd name="adj" fmla="val 12000"/>
            </a:avLst>
          </a:prstGeom>
          <a:solidFill>
            <a:srgbClr val="2251FF"/>
          </a:solidFill>
          <a:ln>
            <a:noFill/>
          </a:ln>
          <a:effectLst/>
        </p:spPr>
        <p:txBody>
          <a:bodyPr rtlCol="0" anchor="ctr" wrap="square" lIns="54864" rIns="54864" tIns="27432" bIns="27432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Snowpipe Streaming</a:t>
            </a:r>
          </a:p>
          <a:p>
            <a:pPr algn="ctr"/>
            <a:r>
              <a:rPr sz="800">
                <a:solidFill>
                  <a:srgbClr val="AAE6F0"/>
                </a:solidFill>
                <a:latin typeface="Arial"/>
              </a:rPr>
              <a:t>exactly-once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74920" y="1828800"/>
            <a:ext cx="1627632" cy="566928"/>
          </a:xfrm>
          <a:prstGeom prst="roundRect">
            <a:avLst>
              <a:gd name="adj" fmla="val 12000"/>
            </a:avLst>
          </a:prstGeom>
          <a:solidFill>
            <a:srgbClr val="051C2C"/>
          </a:solidFill>
          <a:ln>
            <a:noFill/>
          </a:ln>
          <a:effectLst/>
        </p:spPr>
        <p:txBody>
          <a:bodyPr rtlCol="0" anchor="ctr" wrap="square" lIns="54864" rIns="54864" tIns="27432" bIns="27432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INGEST raw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06640" y="1828800"/>
            <a:ext cx="1627632" cy="566928"/>
          </a:xfrm>
          <a:prstGeom prst="roundRect">
            <a:avLst>
              <a:gd name="adj" fmla="val 12000"/>
            </a:avLst>
          </a:prstGeom>
          <a:solidFill>
            <a:srgbClr val="051C2C"/>
          </a:solidFill>
          <a:ln>
            <a:noFill/>
          </a:ln>
          <a:effectLst/>
        </p:spPr>
        <p:txBody>
          <a:bodyPr rtlCol="0" anchor="ctr" wrap="square" lIns="54864" rIns="54864" tIns="27432" bIns="27432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STAGING views</a:t>
            </a:r>
          </a:p>
          <a:p>
            <a:pPr algn="ctr"/>
            <a:r>
              <a:rPr sz="800">
                <a:solidFill>
                  <a:srgbClr val="AAE6F0"/>
                </a:solidFill>
                <a:latin typeface="Arial"/>
              </a:rPr>
              <a:t>dbt, 8 models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784080" y="1828800"/>
            <a:ext cx="1627632" cy="566928"/>
          </a:xfrm>
          <a:prstGeom prst="roundRect">
            <a:avLst>
              <a:gd name="adj" fmla="val 12000"/>
            </a:avLst>
          </a:prstGeom>
          <a:solidFill>
            <a:srgbClr val="051C2C"/>
          </a:solidFill>
          <a:ln>
            <a:noFill/>
          </a:ln>
          <a:effectLst/>
        </p:spPr>
        <p:txBody>
          <a:bodyPr rtlCol="0" anchor="ctr" wrap="square" lIns="54864" rIns="54864" tIns="27432" bIns="27432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MARTS star schema</a:t>
            </a:r>
          </a:p>
          <a:p>
            <a:pPr algn="ctr"/>
            <a:r>
              <a:rPr sz="800">
                <a:solidFill>
                  <a:srgbClr val="AAE6F0"/>
                </a:solidFill>
                <a:latin typeface="Arial"/>
              </a:rPr>
              <a:t>dims, facts, SCD2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784080" y="3017520"/>
            <a:ext cx="1627632" cy="566928"/>
          </a:xfrm>
          <a:prstGeom prst="roundRect">
            <a:avLst>
              <a:gd name="adj" fmla="val 12000"/>
            </a:avLst>
          </a:prstGeom>
          <a:solidFill>
            <a:srgbClr val="00A9F4"/>
          </a:solidFill>
          <a:ln>
            <a:noFill/>
          </a:ln>
          <a:effectLst/>
        </p:spPr>
        <p:txBody>
          <a:bodyPr rtlCol="0" anchor="ctr" wrap="square" lIns="54864" rIns="54864" tIns="27432" bIns="27432"/>
          <a:lstStyle/>
          <a:p>
            <a:pPr algn="ctr"/>
            <a:r>
              <a:rPr sz="1050" b="1">
                <a:solidFill>
                  <a:srgbClr val="000000"/>
                </a:solidFill>
                <a:latin typeface="Arial"/>
              </a:rPr>
              <a:t>Streamlit dashboard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84080" y="3749039"/>
            <a:ext cx="1627632" cy="566928"/>
          </a:xfrm>
          <a:prstGeom prst="roundRect">
            <a:avLst>
              <a:gd name="adj" fmla="val 12000"/>
            </a:avLst>
          </a:prstGeom>
          <a:solidFill>
            <a:srgbClr val="00A9F4"/>
          </a:solidFill>
          <a:ln>
            <a:noFill/>
          </a:ln>
          <a:effectLst/>
        </p:spPr>
        <p:txBody>
          <a:bodyPr rtlCol="0" anchor="ctr" wrap="square" lIns="54864" rIns="54864" tIns="27432" bIns="27432"/>
          <a:lstStyle/>
          <a:p>
            <a:pPr algn="ctr"/>
            <a:r>
              <a:rPr sz="1050" b="1">
                <a:solidFill>
                  <a:srgbClr val="000000"/>
                </a:solidFill>
                <a:latin typeface="Arial"/>
              </a:rPr>
              <a:t>Analyst SQL</a:t>
            </a:r>
          </a:p>
        </p:txBody>
      </p:sp>
      <p:cxnSp>
        <p:nvCxnSpPr>
          <p:cNvPr id="20" name="Connector 19"/>
          <p:cNvCxnSpPr/>
          <p:nvPr/>
        </p:nvCxnSpPr>
        <p:spPr>
          <a:xfrm flipV="1">
            <a:off x="2130552" y="1764792"/>
            <a:ext cx="612648" cy="338328"/>
          </a:xfrm>
          <a:prstGeom prst="line">
            <a:avLst/>
          </a:prstGeom>
          <a:ln w="17780">
            <a:solidFill>
              <a:srgbClr val="4D4D4D"/>
            </a:solidFill>
            <a:tailEnd type="triangle" w="med" len="med"/>
          </a:ln>
          <a:effectLst/>
        </p:spPr>
      </p:cxnSp>
      <p:cxnSp>
        <p:nvCxnSpPr>
          <p:cNvPr id="21" name="Connector 20"/>
          <p:cNvCxnSpPr/>
          <p:nvPr/>
        </p:nvCxnSpPr>
        <p:spPr>
          <a:xfrm>
            <a:off x="2130552" y="2103120"/>
            <a:ext cx="612648" cy="393192"/>
          </a:xfrm>
          <a:prstGeom prst="line">
            <a:avLst/>
          </a:prstGeom>
          <a:ln w="17780">
            <a:solidFill>
              <a:srgbClr val="4D4D4D"/>
            </a:solidFill>
            <a:tailEnd type="triangle" w="med" len="med"/>
          </a:ln>
          <a:effectLst/>
        </p:spPr>
      </p:cxnSp>
      <p:cxnSp>
        <p:nvCxnSpPr>
          <p:cNvPr id="22" name="Connector 21"/>
          <p:cNvCxnSpPr/>
          <p:nvPr/>
        </p:nvCxnSpPr>
        <p:spPr>
          <a:xfrm>
            <a:off x="2130552" y="3200400"/>
            <a:ext cx="612648" cy="210312"/>
          </a:xfrm>
          <a:prstGeom prst="line">
            <a:avLst/>
          </a:prstGeom>
          <a:ln w="17780">
            <a:solidFill>
              <a:srgbClr val="4D4D4D"/>
            </a:solidFill>
            <a:tailEnd type="triangle" w="med" len="med"/>
          </a:ln>
          <a:effectLst/>
        </p:spPr>
      </p:cxnSp>
      <p:cxnSp>
        <p:nvCxnSpPr>
          <p:cNvPr id="23" name="Connector 22"/>
          <p:cNvCxnSpPr/>
          <p:nvPr/>
        </p:nvCxnSpPr>
        <p:spPr>
          <a:xfrm>
            <a:off x="3557016" y="3694176"/>
            <a:ext cx="0" cy="164592"/>
          </a:xfrm>
          <a:prstGeom prst="line">
            <a:avLst/>
          </a:prstGeom>
          <a:ln w="17780">
            <a:solidFill>
              <a:srgbClr val="4D4D4D"/>
            </a:solidFill>
            <a:tailEnd type="triangle" w="med" len="med"/>
          </a:ln>
          <a:effectLst/>
        </p:spPr>
      </p:cxnSp>
      <p:cxnSp>
        <p:nvCxnSpPr>
          <p:cNvPr id="24" name="Connector 23"/>
          <p:cNvCxnSpPr/>
          <p:nvPr/>
        </p:nvCxnSpPr>
        <p:spPr>
          <a:xfrm>
            <a:off x="4370832" y="1764792"/>
            <a:ext cx="704088" cy="246888"/>
          </a:xfrm>
          <a:prstGeom prst="line">
            <a:avLst/>
          </a:prstGeom>
          <a:ln w="17780">
            <a:solidFill>
              <a:srgbClr val="4D4D4D"/>
            </a:solidFill>
            <a:tailEnd type="triangle" w="med" len="med"/>
          </a:ln>
          <a:effectLst/>
        </p:spPr>
      </p:cxnSp>
      <p:cxnSp>
        <p:nvCxnSpPr>
          <p:cNvPr id="25" name="Connector 24"/>
          <p:cNvCxnSpPr/>
          <p:nvPr/>
        </p:nvCxnSpPr>
        <p:spPr>
          <a:xfrm flipV="1">
            <a:off x="4370832" y="2112264"/>
            <a:ext cx="704088" cy="384048"/>
          </a:xfrm>
          <a:prstGeom prst="line">
            <a:avLst/>
          </a:prstGeom>
          <a:ln w="17780">
            <a:solidFill>
              <a:srgbClr val="4D4D4D"/>
            </a:solidFill>
            <a:tailEnd type="triangle" w="med" len="med"/>
          </a:ln>
          <a:effectLst/>
        </p:spPr>
      </p:cxnSp>
      <p:cxnSp>
        <p:nvCxnSpPr>
          <p:cNvPr id="26" name="Connector 25"/>
          <p:cNvCxnSpPr/>
          <p:nvPr/>
        </p:nvCxnSpPr>
        <p:spPr>
          <a:xfrm flipV="1">
            <a:off x="4370832" y="2395728"/>
            <a:ext cx="1481328" cy="1746504"/>
          </a:xfrm>
          <a:prstGeom prst="line">
            <a:avLst/>
          </a:prstGeom>
          <a:ln w="17780">
            <a:solidFill>
              <a:srgbClr val="4D4D4D"/>
            </a:solidFill>
            <a:tailEnd type="triangle" w="med" len="med"/>
          </a:ln>
          <a:effectLst/>
        </p:spPr>
      </p:cxnSp>
      <p:cxnSp>
        <p:nvCxnSpPr>
          <p:cNvPr id="27" name="Connector 26"/>
          <p:cNvCxnSpPr/>
          <p:nvPr/>
        </p:nvCxnSpPr>
        <p:spPr>
          <a:xfrm>
            <a:off x="6702552" y="2112264"/>
            <a:ext cx="704088" cy="0"/>
          </a:xfrm>
          <a:prstGeom prst="line">
            <a:avLst/>
          </a:prstGeom>
          <a:ln w="17780">
            <a:solidFill>
              <a:srgbClr val="4D4D4D"/>
            </a:solidFill>
            <a:tailEnd type="triangle" w="med" len="med"/>
          </a:ln>
          <a:effectLst/>
        </p:spPr>
      </p:cxnSp>
      <p:cxnSp>
        <p:nvCxnSpPr>
          <p:cNvPr id="28" name="Connector 27"/>
          <p:cNvCxnSpPr/>
          <p:nvPr/>
        </p:nvCxnSpPr>
        <p:spPr>
          <a:xfrm>
            <a:off x="9034272" y="2112264"/>
            <a:ext cx="749808" cy="0"/>
          </a:xfrm>
          <a:prstGeom prst="line">
            <a:avLst/>
          </a:prstGeom>
          <a:ln w="17780">
            <a:solidFill>
              <a:srgbClr val="4D4D4D"/>
            </a:solidFill>
            <a:tailEnd type="triangle" w="med" len="med"/>
          </a:ln>
          <a:effectLst/>
        </p:spPr>
      </p:cxnSp>
      <p:cxnSp>
        <p:nvCxnSpPr>
          <p:cNvPr id="29" name="Connector 28"/>
          <p:cNvCxnSpPr/>
          <p:nvPr/>
        </p:nvCxnSpPr>
        <p:spPr>
          <a:xfrm>
            <a:off x="10561320" y="2395728"/>
            <a:ext cx="0" cy="621792"/>
          </a:xfrm>
          <a:prstGeom prst="line">
            <a:avLst/>
          </a:prstGeom>
          <a:ln w="17780">
            <a:solidFill>
              <a:srgbClr val="4D4D4D"/>
            </a:solidFill>
            <a:tailEnd type="triangle" w="med" len="med"/>
          </a:ln>
          <a:effectLst/>
        </p:spPr>
      </p:cxnSp>
      <p:cxnSp>
        <p:nvCxnSpPr>
          <p:cNvPr id="30" name="Connector 29"/>
          <p:cNvCxnSpPr/>
          <p:nvPr/>
        </p:nvCxnSpPr>
        <p:spPr>
          <a:xfrm>
            <a:off x="10881360" y="2395728"/>
            <a:ext cx="0" cy="1353311"/>
          </a:xfrm>
          <a:prstGeom prst="line">
            <a:avLst/>
          </a:prstGeom>
          <a:ln w="17780">
            <a:solidFill>
              <a:srgbClr val="4D4D4D"/>
            </a:solidFill>
            <a:tailEnd type="triangle" w="med" len="med"/>
          </a:ln>
          <a:effectLst/>
        </p:spPr>
      </p:cxnSp>
      <p:cxnSp>
        <p:nvCxnSpPr>
          <p:cNvPr id="31" name="Connector 30"/>
          <p:cNvCxnSpPr/>
          <p:nvPr/>
        </p:nvCxnSpPr>
        <p:spPr>
          <a:xfrm>
            <a:off x="502920" y="4983480"/>
            <a:ext cx="11185855" cy="0"/>
          </a:xfrm>
          <a:prstGeom prst="line">
            <a:avLst/>
          </a:prstGeom>
          <a:ln w="9525">
            <a:solidFill>
              <a:srgbClr val="B3B3B3"/>
            </a:solidFill>
            <a:prstDash val="dash"/>
          </a:ln>
          <a:effectLst/>
        </p:spPr>
      </p:cxnSp>
      <p:sp>
        <p:nvSpPr>
          <p:cNvPr id="32" name="TextBox 31"/>
          <p:cNvSpPr txBox="1"/>
          <p:nvPr/>
        </p:nvSpPr>
        <p:spPr>
          <a:xfrm>
            <a:off x="502920" y="5038344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4D4D4D"/>
                </a:solidFill>
                <a:latin typeface="Arial"/>
              </a:rPr>
              <a:t>Orchestration and verification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743200" y="5257800"/>
            <a:ext cx="1627632" cy="566928"/>
          </a:xfrm>
          <a:prstGeom prst="roundRect">
            <a:avLst>
              <a:gd name="adj" fmla="val 12000"/>
            </a:avLst>
          </a:prstGeom>
          <a:solidFill>
            <a:srgbClr val="AAE6F0"/>
          </a:solidFill>
          <a:ln>
            <a:noFill/>
          </a:ln>
          <a:effectLst/>
        </p:spPr>
        <p:txBody>
          <a:bodyPr rtlCol="0" anchor="ctr" wrap="square" lIns="54864" rIns="54864" tIns="27432" bIns="27432"/>
          <a:lstStyle/>
          <a:p>
            <a:pPr algn="ctr"/>
            <a:r>
              <a:rPr sz="1050" b="1">
                <a:solidFill>
                  <a:srgbClr val="000000"/>
                </a:solidFill>
                <a:latin typeface="Arial"/>
              </a:rPr>
              <a:t>Airflow, 3 DAGs</a:t>
            </a:r>
          </a:p>
          <a:p>
            <a:pPr algn="ctr"/>
            <a:r>
              <a:rPr sz="800">
                <a:solidFill>
                  <a:srgbClr val="051C2C"/>
                </a:solidFill>
                <a:latin typeface="Arial"/>
              </a:rPr>
              <a:t>4h, daily, 5 min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074920" y="5257800"/>
            <a:ext cx="1627632" cy="566928"/>
          </a:xfrm>
          <a:prstGeom prst="roundRect">
            <a:avLst>
              <a:gd name="adj" fmla="val 12000"/>
            </a:avLst>
          </a:prstGeom>
          <a:solidFill>
            <a:srgbClr val="AAE6F0"/>
          </a:solidFill>
          <a:ln>
            <a:noFill/>
          </a:ln>
          <a:effectLst/>
        </p:spPr>
        <p:txBody>
          <a:bodyPr rtlCol="0" anchor="ctr" wrap="square" lIns="54864" rIns="54864" tIns="27432" bIns="27432"/>
          <a:lstStyle/>
          <a:p>
            <a:pPr algn="ctr"/>
            <a:r>
              <a:rPr sz="1050" b="1">
                <a:solidFill>
                  <a:srgbClr val="000000"/>
                </a:solidFill>
                <a:latin typeface="Arial"/>
              </a:rPr>
              <a:t>dbt build + test</a:t>
            </a:r>
          </a:p>
          <a:p>
            <a:pPr algn="ctr"/>
            <a:r>
              <a:rPr sz="800">
                <a:solidFill>
                  <a:srgbClr val="051C2C"/>
                </a:solidFill>
                <a:latin typeface="Arial"/>
              </a:rPr>
              <a:t>30+ tests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406640" y="5257800"/>
            <a:ext cx="1627632" cy="566928"/>
          </a:xfrm>
          <a:prstGeom prst="roundRect">
            <a:avLst>
              <a:gd name="adj" fmla="val 12000"/>
            </a:avLst>
          </a:prstGeom>
          <a:solidFill>
            <a:srgbClr val="AAE6F0"/>
          </a:solidFill>
          <a:ln>
            <a:noFill/>
          </a:ln>
          <a:effectLst/>
        </p:spPr>
        <p:txBody>
          <a:bodyPr rtlCol="0" anchor="ctr" wrap="square" lIns="54864" rIns="54864" tIns="27432" bIns="27432"/>
          <a:lstStyle/>
          <a:p>
            <a:pPr algn="ctr"/>
            <a:r>
              <a:rPr sz="1050" b="1">
                <a:solidFill>
                  <a:srgbClr val="000000"/>
                </a:solidFill>
                <a:latin typeface="Arial"/>
              </a:rPr>
              <a:t>SQL assertions</a:t>
            </a:r>
          </a:p>
          <a:p>
            <a:pPr algn="ctr"/>
            <a:r>
              <a:rPr sz="800">
                <a:solidFill>
                  <a:srgbClr val="051C2C"/>
                </a:solidFill>
                <a:latin typeface="Arial"/>
              </a:rPr>
              <a:t>6 checks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" y="6291072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4D4D4D"/>
                </a:solidFill>
                <a:latin typeface="Arial"/>
              </a:rPr>
              <a:t>Source: docs/ARCHITECTURE.md; rendered diagram in docs/architecture.png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183112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</a:pPr>
            <a:r>
              <a:rPr sz="2100" b="1" i="0">
                <a:solidFill>
                  <a:srgbClr val="000000"/>
                </a:solidFill>
                <a:latin typeface="Georgia"/>
              </a:rPr>
              <a:t>One ingestion speed would be the wrong answer; latency is bought only where it earns margin.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11183112" cy="203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59775" y="6565392"/>
            <a:ext cx="3931920" cy="292608"/>
          </a:xfrm>
          <a:prstGeom prst="rect">
            <a:avLst/>
          </a:prstGeom>
          <a:solidFill>
            <a:srgbClr val="00A9F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96935" y="6611112"/>
            <a:ext cx="36118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051C2C"/>
                </a:solidFill>
                <a:latin typeface="Arial"/>
              </a:rPr>
              <a:t>Architecture and real-time ingestion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4D4D4D"/>
                </a:solidFill>
                <a:latin typeface="Arial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6547104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4D4D4D"/>
                </a:solidFill>
                <a:latin typeface="Arial"/>
              </a:rPr>
              <a:t>Monogram Paris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828800"/>
            <a:ext cx="301752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 i="0">
                <a:solidFill>
                  <a:srgbClr val="000000"/>
                </a:solidFill>
                <a:latin typeface="Georgia"/>
              </a:rPr>
              <a:t>Real time everywhere
would triple compute cost.
Batch everywhere would
blind the flash sale.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1691640"/>
            <a:ext cx="140817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000000"/>
                </a:solidFill>
                <a:latin typeface="Arial"/>
              </a:rPr>
              <a:t>Path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77255" y="1691640"/>
            <a:ext cx="194904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000000"/>
                </a:solidFill>
                <a:latin typeface="Arial"/>
              </a:rPr>
              <a:t>Carries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63458" y="1691640"/>
            <a:ext cx="233537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000000"/>
                </a:solidFill>
                <a:latin typeface="Arial"/>
              </a:rPr>
              <a:t>Business case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35995" y="1691640"/>
            <a:ext cx="148544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000000"/>
                </a:solidFill>
                <a:latin typeface="Arial"/>
              </a:rPr>
              <a:t>Latency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931920" y="2075688"/>
            <a:ext cx="7726679" cy="1397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931920" y="2231136"/>
            <a:ext cx="1408175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Arial"/>
              </a:rPr>
              <a:t>Direct INSERT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77255" y="2231136"/>
            <a:ext cx="1949043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Sales, returns, reviews, inventory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63458" y="2231136"/>
            <a:ext cx="2335377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Operational reporting inside the 4-hour SLA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35995" y="2231136"/>
            <a:ext cx="1485442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Seconds per batch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931920" y="2880360"/>
            <a:ext cx="7726679" cy="6350"/>
          </a:xfrm>
          <a:prstGeom prst="rect">
            <a:avLst/>
          </a:prstGeom>
          <a:solidFill>
            <a:srgbClr val="B3B3B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31920" y="2944368"/>
            <a:ext cx="1408175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Arial"/>
              </a:rPr>
              <a:t>Parquet + COPY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77255" y="2944368"/>
            <a:ext cx="1949043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Products, customers, stores, suppliers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63458" y="2944368"/>
            <a:ext cx="2335377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Master data at the lowest cost per row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35995" y="2944368"/>
            <a:ext cx="1485442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Minutes, daily cadence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931920" y="3593592"/>
            <a:ext cx="7726679" cy="6350"/>
          </a:xfrm>
          <a:prstGeom prst="rect">
            <a:avLst/>
          </a:prstGeom>
          <a:solidFill>
            <a:srgbClr val="B3B3B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931920" y="3657600"/>
            <a:ext cx="1408175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Arial"/>
              </a:rPr>
              <a:t>Kafka + Snowpipe Streaming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77255" y="3657600"/>
            <a:ext cx="1949043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Live sales events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63458" y="3657600"/>
            <a:ext cx="2335377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Flash-sale steering and live dashboards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35995" y="3657600"/>
            <a:ext cx="1485442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Sub-minute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931920" y="4306824"/>
            <a:ext cx="7726679" cy="6350"/>
          </a:xfrm>
          <a:prstGeom prst="rect">
            <a:avLst/>
          </a:prstGeom>
          <a:solidFill>
            <a:srgbClr val="B3B3B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931920" y="4389120"/>
            <a:ext cx="76809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100">
                <a:solidFill>
                  <a:srgbClr val="000000"/>
                </a:solidFill>
                <a:latin typeface="Arial"/>
              </a:rPr>
              <a:t>- </a:t>
            </a:r>
            <a:r>
              <a:rPr sz="1100" b="0">
                <a:solidFill>
                  <a:srgbClr val="000000"/>
                </a:solidFill>
                <a:latin typeface="Arial"/>
              </a:rPr>
              <a:t>All three paths land in the same INGEST schema; downstream dbt models never care how a row arrived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6291072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4D4D4D"/>
                </a:solidFill>
                <a:latin typeface="Arial"/>
              </a:rPr>
              <a:t>Source: python/monogram_etl/ingesters, python/monogram_etl/streaming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183112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</a:pPr>
            <a:r>
              <a:rPr sz="2100" b="1" i="0">
                <a:solidFill>
                  <a:srgbClr val="000000"/>
                </a:solidFill>
                <a:latin typeface="Georgia"/>
              </a:rPr>
              <a:t>Duplicates are not filtered out afterwards; they are made structurally impossible.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11183112" cy="203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59775" y="6565392"/>
            <a:ext cx="3931920" cy="292608"/>
          </a:xfrm>
          <a:prstGeom prst="rect">
            <a:avLst/>
          </a:prstGeom>
          <a:solidFill>
            <a:srgbClr val="00A9F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96935" y="6611112"/>
            <a:ext cx="36118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051C2C"/>
                </a:solidFill>
                <a:latin typeface="Arial"/>
              </a:rPr>
              <a:t>Architecture and real-time ingestion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4D4D4D"/>
                </a:solidFill>
                <a:latin typeface="Arial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6547104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4D4D4D"/>
                </a:solidFill>
                <a:latin typeface="Arial"/>
              </a:rPr>
              <a:t>Monogram Paris Data</a:t>
            </a:r>
          </a:p>
        </p:txBody>
      </p:sp>
      <p:sp>
        <p:nvSpPr>
          <p:cNvPr id="9" name="Oval 8"/>
          <p:cNvSpPr/>
          <p:nvPr/>
        </p:nvSpPr>
        <p:spPr>
          <a:xfrm>
            <a:off x="502920" y="1874519"/>
            <a:ext cx="384048" cy="384048"/>
          </a:xfrm>
          <a:prstGeom prst="ellipse">
            <a:avLst/>
          </a:prstGeom>
          <a:solidFill>
            <a:srgbClr val="00A9F4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1874519"/>
            <a:ext cx="3291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000000"/>
                </a:solidFill>
                <a:latin typeface="Arial"/>
              </a:rPr>
              <a:t>Produce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2203703"/>
            <a:ext cx="32918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4D4D4D"/>
                </a:solidFill>
                <a:latin typeface="Arial"/>
              </a:rPr>
              <a:t>Events published to a 3-partition Redpanda topic</a:t>
            </a:r>
          </a:p>
        </p:txBody>
      </p:sp>
      <p:sp>
        <p:nvSpPr>
          <p:cNvPr id="12" name="Oval 11"/>
          <p:cNvSpPr/>
          <p:nvPr/>
        </p:nvSpPr>
        <p:spPr>
          <a:xfrm>
            <a:off x="502920" y="3063240"/>
            <a:ext cx="384048" cy="384048"/>
          </a:xfrm>
          <a:prstGeom prst="ellipse">
            <a:avLst/>
          </a:prstGeom>
          <a:solidFill>
            <a:srgbClr val="00A9F4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3063240"/>
            <a:ext cx="3291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000000"/>
                </a:solidFill>
                <a:latin typeface="Arial"/>
              </a:rPr>
              <a:t>Consume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3392424"/>
            <a:ext cx="32918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4D4D4D"/>
                </a:solidFill>
                <a:latin typeface="Arial"/>
              </a:rPr>
              <a:t>One Snowpipe Streaming channel per partition; the Kafka offset is the offset token</a:t>
            </a:r>
          </a:p>
        </p:txBody>
      </p:sp>
      <p:sp>
        <p:nvSpPr>
          <p:cNvPr id="15" name="Oval 14"/>
          <p:cNvSpPr/>
          <p:nvPr/>
        </p:nvSpPr>
        <p:spPr>
          <a:xfrm>
            <a:off x="502920" y="4251960"/>
            <a:ext cx="384048" cy="384048"/>
          </a:xfrm>
          <a:prstGeom prst="ellipse">
            <a:avLst/>
          </a:prstGeom>
          <a:solidFill>
            <a:srgbClr val="00A9F4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4251960"/>
            <a:ext cx="3291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000000"/>
                </a:solidFill>
                <a:latin typeface="Arial"/>
              </a:rPr>
              <a:t>Resume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4581144"/>
            <a:ext cx="32918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4D4D4D"/>
                </a:solidFill>
                <a:latin typeface="Arial"/>
              </a:rPr>
              <a:t>After any crash the consumer seeks to the last committed token plus one: no replays, no gaps</a:t>
            </a:r>
          </a:p>
        </p:txBody>
      </p:sp>
      <p:sp>
        <p:nvSpPr>
          <p:cNvPr id="18" name="Oval 17"/>
          <p:cNvSpPr/>
          <p:nvPr/>
        </p:nvSpPr>
        <p:spPr>
          <a:xfrm>
            <a:off x="4572000" y="1874519"/>
            <a:ext cx="384048" cy="384048"/>
          </a:xfrm>
          <a:prstGeom prst="ellipse">
            <a:avLst/>
          </a:prstGeom>
          <a:solidFill>
            <a:srgbClr val="00A9F4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0640" y="1874519"/>
            <a:ext cx="3291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000000"/>
                </a:solidFill>
                <a:latin typeface="Arial"/>
              </a:rPr>
              <a:t>Prove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0640" y="2203703"/>
            <a:ext cx="32918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4D4D4D"/>
                </a:solidFill>
                <a:latin typeface="Arial"/>
              </a:rPr>
              <a:t>assert_stream_exactly_once.sql counts duplicate partition and offset pairs, every 5 minutes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52560" y="2011680"/>
            <a:ext cx="237744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2251FF"/>
                </a:solidFill>
                <a:latin typeface="Georgia"/>
              </a:rPr>
              <a:t>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52560" y="2578608"/>
            <a:ext cx="2377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4D4D4D"/>
                </a:solidFill>
                <a:latin typeface="Arial"/>
              </a:rPr>
              <a:t>duplicate events across all
verified demo runs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52560" y="3474720"/>
            <a:ext cx="237744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2251FF"/>
                </a:solidFill>
                <a:latin typeface="Georgia"/>
              </a:rPr>
              <a:t>&lt;1 min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52560" y="4041648"/>
            <a:ext cx="2377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4D4D4D"/>
                </a:solidFill>
                <a:latin typeface="Arial"/>
              </a:rPr>
              <a:t>from Kafka publish to a
queryable Snowflake row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0" y="3977639"/>
            <a:ext cx="3840480" cy="2011680"/>
          </a:xfrm>
          <a:prstGeom prst="rect">
            <a:avLst/>
          </a:prstGeom>
          <a:solidFill>
            <a:srgbClr val="F2F2F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800600" y="4206239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00000"/>
                </a:solidFill>
                <a:latin typeface="Arial"/>
              </a:rPr>
              <a:t>Why the jury should care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00600" y="4663439"/>
            <a:ext cx="33832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050">
                <a:solidFill>
                  <a:srgbClr val="000000"/>
                </a:solidFill>
                <a:latin typeface="Arial"/>
              </a:rPr>
              <a:t>• </a:t>
            </a:r>
            <a:r>
              <a:rPr sz="1050" b="1">
                <a:solidFill>
                  <a:srgbClr val="000000"/>
                </a:solidFill>
                <a:latin typeface="Arial"/>
              </a:rPr>
              <a:t>Most pipelines claim at-least-once and deduplicate later. </a:t>
            </a:r>
            <a:r>
              <a:rPr sz="1050" b="0">
                <a:solidFill>
                  <a:srgbClr val="000000"/>
                </a:solidFill>
                <a:latin typeface="Arial"/>
              </a:rPr>
              <a:t>This one moves the guarantee into the protocol, then verifies it in production on a schedule.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291072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4D4D4D"/>
                </a:solidFill>
                <a:latin typeface="Arial"/>
              </a:rPr>
              <a:t>Source: docs/STREAMING.md; sql/validation/assert_stream_exactly_once.sql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1C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96596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00A9F4"/>
                </a:solidFill>
                <a:latin typeface="Arial"/>
              </a:rPr>
              <a:t>CHAPTER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2468880"/>
            <a:ext cx="9601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 i="0">
                <a:solidFill>
                  <a:srgbClr val="FFFFFF"/>
                </a:solidFill>
                <a:latin typeface="Georgia"/>
              </a:rPr>
              <a:t>From raw events to trusted marts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3977639"/>
            <a:ext cx="4754880" cy="15240"/>
          </a:xfrm>
          <a:prstGeom prst="rect">
            <a:avLst/>
          </a:prstGeom>
          <a:solidFill>
            <a:srgbClr val="00A9F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4206240"/>
            <a:ext cx="8686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AAE6F0"/>
                </a:solidFill>
                <a:latin typeface="Arial"/>
              </a:rPr>
              <a:t>The star schema, the three quality layers and the code that builds them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183112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</a:pPr>
            <a:r>
              <a:rPr sz="2100" b="1" i="0">
                <a:solidFill>
                  <a:srgbClr val="000000"/>
                </a:solidFill>
                <a:latin typeface="Georgia"/>
              </a:rPr>
              <a:t>Batch and streaming meet in a Kimball star schema: four conformed dimensions serve every fact.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11183112" cy="203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59775" y="6565392"/>
            <a:ext cx="3931920" cy="292608"/>
          </a:xfrm>
          <a:prstGeom prst="rect">
            <a:avLst/>
          </a:prstGeom>
          <a:solidFill>
            <a:srgbClr val="00A9F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96935" y="6611112"/>
            <a:ext cx="36118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051C2C"/>
                </a:solidFill>
                <a:latin typeface="Arial"/>
              </a:rPr>
              <a:t>From raw events to trusted marts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4D4D4D"/>
                </a:solidFill>
                <a:latin typeface="Arial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6547104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4D4D4D"/>
                </a:solidFill>
                <a:latin typeface="Arial"/>
              </a:rPr>
              <a:t>Monogram Paris Data</a:t>
            </a:r>
          </a:p>
        </p:txBody>
      </p:sp>
      <p:cxnSp>
        <p:nvCxnSpPr>
          <p:cNvPr id="9" name="Connector 8"/>
          <p:cNvCxnSpPr/>
          <p:nvPr/>
        </p:nvCxnSpPr>
        <p:spPr>
          <a:xfrm flipV="1">
            <a:off x="4206240" y="2286000"/>
            <a:ext cx="0" cy="1600200"/>
          </a:xfrm>
          <a:prstGeom prst="line">
            <a:avLst/>
          </a:prstGeom>
          <a:ln w="12700">
            <a:solidFill>
              <a:srgbClr val="B3B3B3"/>
            </a:solidFill>
          </a:ln>
          <a:effectLst/>
        </p:spPr>
      </p:cxnSp>
      <p:cxnSp>
        <p:nvCxnSpPr>
          <p:cNvPr id="10" name="Connector 9"/>
          <p:cNvCxnSpPr/>
          <p:nvPr/>
        </p:nvCxnSpPr>
        <p:spPr>
          <a:xfrm>
            <a:off x="4206240" y="3886200"/>
            <a:ext cx="2468880" cy="0"/>
          </a:xfrm>
          <a:prstGeom prst="line">
            <a:avLst/>
          </a:prstGeom>
          <a:ln w="12700">
            <a:solidFill>
              <a:srgbClr val="B3B3B3"/>
            </a:solidFill>
          </a:ln>
          <a:effectLst/>
        </p:spPr>
      </p:cxnSp>
      <p:cxnSp>
        <p:nvCxnSpPr>
          <p:cNvPr id="11" name="Connector 10"/>
          <p:cNvCxnSpPr/>
          <p:nvPr/>
        </p:nvCxnSpPr>
        <p:spPr>
          <a:xfrm>
            <a:off x="4206240" y="3886200"/>
            <a:ext cx="0" cy="1600200"/>
          </a:xfrm>
          <a:prstGeom prst="line">
            <a:avLst/>
          </a:prstGeom>
          <a:ln w="12700">
            <a:solidFill>
              <a:srgbClr val="B3B3B3"/>
            </a:solidFill>
          </a:ln>
          <a:effectLst/>
        </p:spPr>
      </p:cxnSp>
      <p:cxnSp>
        <p:nvCxnSpPr>
          <p:cNvPr id="12" name="Connector 11"/>
          <p:cNvCxnSpPr/>
          <p:nvPr/>
        </p:nvCxnSpPr>
        <p:spPr>
          <a:xfrm flipH="1">
            <a:off x="1737360" y="3886200"/>
            <a:ext cx="2468880" cy="0"/>
          </a:xfrm>
          <a:prstGeom prst="line">
            <a:avLst/>
          </a:prstGeom>
          <a:ln w="12700">
            <a:solidFill>
              <a:srgbClr val="B3B3B3"/>
            </a:solidFill>
          </a:ln>
          <a:effectLst/>
        </p:spPr>
      </p:cxnSp>
      <p:sp>
        <p:nvSpPr>
          <p:cNvPr id="13" name="Rounded Rectangle 12"/>
          <p:cNvSpPr/>
          <p:nvPr/>
        </p:nvSpPr>
        <p:spPr>
          <a:xfrm>
            <a:off x="3360420" y="2002536"/>
            <a:ext cx="1691640" cy="566928"/>
          </a:xfrm>
          <a:prstGeom prst="roundRect">
            <a:avLst>
              <a:gd name="adj" fmla="val 12000"/>
            </a:avLst>
          </a:prstGeom>
          <a:solidFill>
            <a:srgbClr val="AAE6F0"/>
          </a:solidFill>
          <a:ln>
            <a:noFill/>
          </a:ln>
          <a:effectLst/>
        </p:spPr>
        <p:txBody>
          <a:bodyPr rtlCol="0" anchor="ctr" wrap="square" lIns="54864" rIns="54864" tIns="27432" bIns="27432"/>
          <a:lstStyle/>
          <a:p>
            <a:pPr algn="ctr"/>
            <a:r>
              <a:rPr sz="1000" b="1">
                <a:solidFill>
                  <a:srgbClr val="000000"/>
                </a:solidFill>
                <a:latin typeface="Arial"/>
              </a:rPr>
              <a:t>dim_customer
(SCD2 history)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829300" y="3602736"/>
            <a:ext cx="1691640" cy="566928"/>
          </a:xfrm>
          <a:prstGeom prst="roundRect">
            <a:avLst>
              <a:gd name="adj" fmla="val 12000"/>
            </a:avLst>
          </a:prstGeom>
          <a:solidFill>
            <a:srgbClr val="AAE6F0"/>
          </a:solidFill>
          <a:ln>
            <a:noFill/>
          </a:ln>
          <a:effectLst/>
        </p:spPr>
        <p:txBody>
          <a:bodyPr rtlCol="0" anchor="ctr" wrap="square" lIns="54864" rIns="54864" tIns="27432" bIns="27432"/>
          <a:lstStyle/>
          <a:p>
            <a:pPr algn="ctr"/>
            <a:r>
              <a:rPr sz="1000" b="1">
                <a:solidFill>
                  <a:srgbClr val="000000"/>
                </a:solidFill>
                <a:latin typeface="Arial"/>
              </a:rPr>
              <a:t>dim_product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60420" y="5202936"/>
            <a:ext cx="1691640" cy="566928"/>
          </a:xfrm>
          <a:prstGeom prst="roundRect">
            <a:avLst>
              <a:gd name="adj" fmla="val 12000"/>
            </a:avLst>
          </a:prstGeom>
          <a:solidFill>
            <a:srgbClr val="AAE6F0"/>
          </a:solidFill>
          <a:ln>
            <a:noFill/>
          </a:ln>
          <a:effectLst/>
        </p:spPr>
        <p:txBody>
          <a:bodyPr rtlCol="0" anchor="ctr" wrap="square" lIns="54864" rIns="54864" tIns="27432" bIns="27432"/>
          <a:lstStyle/>
          <a:p>
            <a:pPr algn="ctr"/>
            <a:r>
              <a:rPr sz="1000" b="1">
                <a:solidFill>
                  <a:srgbClr val="000000"/>
                </a:solidFill>
                <a:latin typeface="Arial"/>
              </a:rPr>
              <a:t>dim_store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1540" y="3602736"/>
            <a:ext cx="1691640" cy="566928"/>
          </a:xfrm>
          <a:prstGeom prst="roundRect">
            <a:avLst>
              <a:gd name="adj" fmla="val 12000"/>
            </a:avLst>
          </a:prstGeom>
          <a:solidFill>
            <a:srgbClr val="AAE6F0"/>
          </a:solidFill>
          <a:ln>
            <a:noFill/>
          </a:ln>
          <a:effectLst/>
        </p:spPr>
        <p:txBody>
          <a:bodyPr rtlCol="0" anchor="ctr" wrap="square" lIns="54864" rIns="54864" tIns="27432" bIns="27432"/>
          <a:lstStyle/>
          <a:p>
            <a:pPr algn="ctr"/>
            <a:r>
              <a:rPr sz="1000" b="1">
                <a:solidFill>
                  <a:srgbClr val="000000"/>
                </a:solidFill>
                <a:latin typeface="Arial"/>
              </a:rPr>
              <a:t>dim_date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154680" y="3429000"/>
            <a:ext cx="2103120" cy="914400"/>
          </a:xfrm>
          <a:prstGeom prst="roundRect">
            <a:avLst>
              <a:gd name="adj" fmla="val 12000"/>
            </a:avLst>
          </a:prstGeom>
          <a:solidFill>
            <a:srgbClr val="051C2C"/>
          </a:solidFill>
          <a:ln>
            <a:noFill/>
          </a:ln>
          <a:effectLst/>
        </p:spPr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fact_sales</a:t>
            </a:r>
          </a:p>
          <a:p>
            <a:pPr algn="ctr"/>
            <a:r>
              <a:rPr sz="950">
                <a:solidFill>
                  <a:srgbClr val="AAE6F0"/>
                </a:solidFill>
                <a:latin typeface="Arial"/>
              </a:rPr>
              <a:t>grain: one sale line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92440" y="1600200"/>
            <a:ext cx="3611880" cy="4480560"/>
          </a:xfrm>
          <a:prstGeom prst="rect">
            <a:avLst/>
          </a:prstGeom>
          <a:solidFill>
            <a:srgbClr val="F2F2F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21040" y="1828800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00000"/>
                </a:solidFill>
                <a:latin typeface="Arial"/>
              </a:rPr>
              <a:t>Same dimensions, two more facts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1040" y="2286000"/>
            <a:ext cx="31546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050">
                <a:solidFill>
                  <a:srgbClr val="000000"/>
                </a:solidFill>
                <a:latin typeface="Arial"/>
              </a:rPr>
              <a:t>• </a:t>
            </a:r>
            <a:r>
              <a:rPr sz="1050" b="1">
                <a:solidFill>
                  <a:srgbClr val="000000"/>
                </a:solidFill>
                <a:latin typeface="Arial"/>
              </a:rPr>
              <a:t>fact_returns </a:t>
            </a:r>
            <a:r>
              <a:rPr sz="1050" b="0">
                <a:solidFill>
                  <a:srgbClr val="000000"/>
                </a:solidFill>
                <a:latin typeface="Arial"/>
              </a:rPr>
              <a:t>joins the same four dimensions for refund analytics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050">
                <a:solidFill>
                  <a:srgbClr val="000000"/>
                </a:solidFill>
                <a:latin typeface="Arial"/>
              </a:rPr>
              <a:t>• </a:t>
            </a:r>
            <a:r>
              <a:rPr sz="1050" b="1">
                <a:solidFill>
                  <a:srgbClr val="000000"/>
                </a:solidFill>
                <a:latin typeface="Arial"/>
              </a:rPr>
              <a:t>fct_sales_realtime </a:t>
            </a:r>
            <a:r>
              <a:rPr sz="1050" b="0">
                <a:solidFill>
                  <a:srgbClr val="000000"/>
                </a:solidFill>
                <a:latin typeface="Arial"/>
              </a:rPr>
              <a:t>joins the stream to the dims, so live numbers and history reconcile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050">
                <a:solidFill>
                  <a:srgbClr val="000000"/>
                </a:solidFill>
                <a:latin typeface="Arial"/>
              </a:rPr>
              <a:t>• </a:t>
            </a:r>
            <a:r>
              <a:rPr sz="1050" b="1">
                <a:solidFill>
                  <a:srgbClr val="000000"/>
                </a:solidFill>
                <a:latin typeface="Arial"/>
              </a:rPr>
              <a:t>8 staging views </a:t>
            </a:r>
            <a:r>
              <a:rPr sz="1050" b="0">
                <a:solidFill>
                  <a:srgbClr val="000000"/>
                </a:solidFill>
                <a:latin typeface="Arial"/>
              </a:rPr>
              <a:t>isolate cleaning from business logic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050">
                <a:solidFill>
                  <a:srgbClr val="000000"/>
                </a:solidFill>
                <a:latin typeface="Arial"/>
              </a:rPr>
              <a:t>• </a:t>
            </a:r>
            <a:r>
              <a:rPr sz="1050" b="1">
                <a:solidFill>
                  <a:srgbClr val="000000"/>
                </a:solidFill>
                <a:latin typeface="Arial"/>
              </a:rPr>
              <a:t>SCD2 snapshot </a:t>
            </a:r>
            <a:r>
              <a:rPr sz="1050" b="0">
                <a:solidFill>
                  <a:srgbClr val="000000"/>
                </a:solidFill>
                <a:latin typeface="Arial"/>
              </a:rPr>
              <a:t>answers what did this customer look like at purchase time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291072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4D4D4D"/>
                </a:solidFill>
                <a:latin typeface="Arial"/>
              </a:rPr>
              <a:t>Source: dbt/models, docs/DATA_MODEL.md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183112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</a:pPr>
            <a:r>
              <a:rPr sz="2100" b="1" i="0">
                <a:solidFill>
                  <a:srgbClr val="000000"/>
                </a:solidFill>
                <a:latin typeface="Georgia"/>
              </a:rPr>
              <a:t>Bad data has to break three different walls before it can reach a merchandising decision.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11183112" cy="203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59775" y="6565392"/>
            <a:ext cx="3931920" cy="292608"/>
          </a:xfrm>
          <a:prstGeom prst="rect">
            <a:avLst/>
          </a:prstGeom>
          <a:solidFill>
            <a:srgbClr val="00A9F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96935" y="6611112"/>
            <a:ext cx="36118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051C2C"/>
                </a:solidFill>
                <a:latin typeface="Arial"/>
              </a:rPr>
              <a:t>From raw events to trusted marts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4D4D4D"/>
                </a:solidFill>
                <a:latin typeface="Arial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6547104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4D4D4D"/>
                </a:solidFill>
                <a:latin typeface="Arial"/>
              </a:rPr>
              <a:t>Monogram Paris Data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691640"/>
            <a:ext cx="3453384" cy="2794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819656"/>
            <a:ext cx="34533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2251FF"/>
                </a:solidFill>
                <a:latin typeface="Georgia"/>
              </a:rPr>
              <a:t>30+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404872"/>
            <a:ext cx="34533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000000"/>
                </a:solidFill>
                <a:latin typeface="Arial"/>
              </a:rPr>
              <a:t>Schema tests (dbt)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2834640"/>
            <a:ext cx="3453384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000">
                <a:solidFill>
                  <a:srgbClr val="4D4D4D"/>
                </a:solidFill>
                <a:latin typeface="Arial"/>
              </a:rPr>
              <a:t>- </a:t>
            </a:r>
            <a:r>
              <a:rPr sz="1000" b="0">
                <a:solidFill>
                  <a:srgbClr val="4D4D4D"/>
                </a:solidFill>
                <a:latin typeface="Arial"/>
              </a:rPr>
              <a:t>not_null, unique and relationship tests on every key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000">
                <a:solidFill>
                  <a:srgbClr val="4D4D4D"/>
                </a:solidFill>
                <a:latin typeface="Arial"/>
              </a:rPr>
              <a:t>- </a:t>
            </a:r>
            <a:r>
              <a:rPr sz="1000" b="0">
                <a:solidFill>
                  <a:srgbClr val="4D4D4D"/>
                </a:solidFill>
                <a:latin typeface="Arial"/>
              </a:rPr>
              <a:t>accepted_values on enums, numeric bounds on ratings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000">
                <a:solidFill>
                  <a:srgbClr val="4D4D4D"/>
                </a:solidFill>
                <a:latin typeface="Arial"/>
              </a:rPr>
              <a:t>- </a:t>
            </a:r>
            <a:r>
              <a:rPr sz="1000" b="0">
                <a:solidFill>
                  <a:srgbClr val="4D4D4D"/>
                </a:solidFill>
                <a:latin typeface="Arial"/>
              </a:rPr>
              <a:t>Source freshness SLAs: warn at 6 hours, error at 24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67784" y="1691640"/>
            <a:ext cx="3453384" cy="2794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67784" y="1819656"/>
            <a:ext cx="34533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2251FF"/>
                </a:solidFill>
                <a:latin typeface="Georgia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67784" y="2404872"/>
            <a:ext cx="34533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000000"/>
                </a:solidFill>
                <a:latin typeface="Arial"/>
              </a:rPr>
              <a:t>Business-rule tests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67784" y="2834640"/>
            <a:ext cx="3453384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000">
                <a:solidFill>
                  <a:srgbClr val="4D4D4D"/>
                </a:solidFill>
                <a:latin typeface="Arial"/>
              </a:rPr>
              <a:t>- </a:t>
            </a:r>
            <a:r>
              <a:rPr sz="1000" b="0">
                <a:solidFill>
                  <a:srgbClr val="4D4D4D"/>
                </a:solidFill>
                <a:latin typeface="Arial"/>
              </a:rPr>
              <a:t>Sales amounts must reconcile across aggregates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000">
                <a:solidFill>
                  <a:srgbClr val="4D4D4D"/>
                </a:solidFill>
                <a:latin typeface="Arial"/>
              </a:rPr>
              <a:t>- </a:t>
            </a:r>
            <a:r>
              <a:rPr sz="1000" b="0">
                <a:solidFill>
                  <a:srgbClr val="4D4D4D"/>
                </a:solidFill>
                <a:latin typeface="Arial"/>
              </a:rPr>
              <a:t>No future-dated sales can enter the marts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000">
                <a:solidFill>
                  <a:srgbClr val="4D4D4D"/>
                </a:solidFill>
                <a:latin typeface="Arial"/>
              </a:rPr>
              <a:t>- </a:t>
            </a:r>
            <a:r>
              <a:rPr sz="1000" b="0">
                <a:solidFill>
                  <a:srgbClr val="4D4D4D"/>
                </a:solidFill>
                <a:latin typeface="Arial"/>
              </a:rPr>
              <a:t>No duplicate stream offsets, ever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32648" y="1691640"/>
            <a:ext cx="3453384" cy="2794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32648" y="1819656"/>
            <a:ext cx="34533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2251FF"/>
                </a:solidFill>
                <a:latin typeface="Georgia"/>
              </a:rPr>
              <a:t>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32648" y="2404872"/>
            <a:ext cx="34533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000000"/>
                </a:solidFill>
                <a:latin typeface="Arial"/>
              </a:rPr>
              <a:t>Operational assertions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32648" y="2834640"/>
            <a:ext cx="3453384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000">
                <a:solidFill>
                  <a:srgbClr val="4D4D4D"/>
                </a:solidFill>
                <a:latin typeface="Arial"/>
              </a:rPr>
              <a:t>- </a:t>
            </a:r>
            <a:r>
              <a:rPr sz="1000" b="0">
                <a:solidFill>
                  <a:srgbClr val="4D4D4D"/>
                </a:solidFill>
                <a:latin typeface="Arial"/>
              </a:rPr>
              <a:t>Freshness, referential integrity, row-count bounds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000">
                <a:solidFill>
                  <a:srgbClr val="4D4D4D"/>
                </a:solidFill>
                <a:latin typeface="Arial"/>
              </a:rPr>
              <a:t>- </a:t>
            </a:r>
            <a:r>
              <a:rPr sz="1000" b="0">
                <a:solidFill>
                  <a:srgbClr val="4D4D4D"/>
                </a:solidFill>
                <a:latin typeface="Arial"/>
              </a:rPr>
              <a:t>Stream health: exactly-once, freshness, throughput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000">
                <a:solidFill>
                  <a:srgbClr val="4D4D4D"/>
                </a:solidFill>
                <a:latin typeface="Arial"/>
              </a:rPr>
              <a:t>- </a:t>
            </a:r>
            <a:r>
              <a:rPr sz="1000" b="0">
                <a:solidFill>
                  <a:srgbClr val="4D4D4D"/>
                </a:solidFill>
                <a:latin typeface="Arial"/>
              </a:rPr>
              <a:t>Run by Airflow; any failure fails the DAG loudly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291072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4D4D4D"/>
                </a:solidFill>
                <a:latin typeface="Arial"/>
              </a:rPr>
              <a:t>Source: dbt tests; sql/validation; docs/ERROR_HANDLING.md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183112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</a:pPr>
            <a:r>
              <a:rPr sz="2100" b="1" i="0">
                <a:solidFill>
                  <a:srgbClr val="000000"/>
                </a:solidFill>
                <a:latin typeface="Georgia"/>
              </a:rPr>
              <a:t>The 25 percent of the grade most candidates leave implicit: this pipeline is engineered like a product.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11183112" cy="203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59775" y="6565392"/>
            <a:ext cx="3931920" cy="292608"/>
          </a:xfrm>
          <a:prstGeom prst="rect">
            <a:avLst/>
          </a:prstGeom>
          <a:solidFill>
            <a:srgbClr val="00A9F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96935" y="6611112"/>
            <a:ext cx="36118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051C2C"/>
                </a:solidFill>
                <a:latin typeface="Arial"/>
              </a:rPr>
              <a:t>From raw events to trusted marts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4D4D4D"/>
                </a:solidFill>
                <a:latin typeface="Arial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6547104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4D4D4D"/>
                </a:solidFill>
                <a:latin typeface="Arial"/>
              </a:rPr>
              <a:t>Monogram Paris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828800"/>
            <a:ext cx="301752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 i="0">
                <a:solidFill>
                  <a:srgbClr val="000000"/>
                </a:solidFill>
                <a:latin typeface="Georgia"/>
              </a:rPr>
              <a:t>An installable, typed,
tested Python package
with one auth path and
7 CLI entry points.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1691640"/>
            <a:ext cx="1645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2251FF"/>
                </a:solidFill>
                <a:latin typeface="Georgia"/>
              </a:rPr>
              <a:t>20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0" y="2258568"/>
            <a:ext cx="16002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 i="0">
                <a:solidFill>
                  <a:srgbClr val="4D4D4D"/>
                </a:solidFill>
                <a:latin typeface="Arial"/>
              </a:rPr>
              <a:t>modules pass mypy with zero issues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0" y="1691640"/>
            <a:ext cx="1645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2251FF"/>
                </a:solidFill>
                <a:latin typeface="Georgia"/>
              </a:rPr>
              <a:t>25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52160" y="2258568"/>
            <a:ext cx="16002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 i="0">
                <a:solidFill>
                  <a:srgbClr val="4D4D4D"/>
                </a:solidFill>
                <a:latin typeface="Arial"/>
              </a:rPr>
              <a:t>unit and data-quality tests green in CI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0" y="1691640"/>
            <a:ext cx="1645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2251FF"/>
                </a:solidFill>
                <a:latin typeface="Georgia"/>
              </a:rPr>
              <a:t>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0" y="2258568"/>
            <a:ext cx="16002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 i="0">
                <a:solidFill>
                  <a:srgbClr val="4D4D4D"/>
                </a:solidFill>
                <a:latin typeface="Arial"/>
              </a:rPr>
              <a:t>ruff violations; lint is a blocking gate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92640" y="1691640"/>
            <a:ext cx="1645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2251FF"/>
                </a:solidFill>
                <a:latin typeface="Georgia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92640" y="2258568"/>
            <a:ext cx="16002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 i="0">
                <a:solidFill>
                  <a:srgbClr val="4D4D4D"/>
                </a:solidFill>
                <a:latin typeface="Arial"/>
              </a:rPr>
              <a:t>Snowflake connection class, context-managed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31920" y="3154680"/>
            <a:ext cx="7772400" cy="3246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150">
                <a:solidFill>
                  <a:srgbClr val="000000"/>
                </a:solidFill>
                <a:latin typeface="Arial"/>
              </a:rPr>
              <a:t>- </a:t>
            </a:r>
            <a:r>
              <a:rPr sz="1150" b="1">
                <a:solidFill>
                  <a:srgbClr val="000000"/>
                </a:solidFill>
                <a:latin typeface="Arial"/>
              </a:rPr>
              <a:t>Quality gates in CI: </a:t>
            </a:r>
            <a:r>
              <a:rPr sz="1150" b="0">
                <a:solidFill>
                  <a:srgbClr val="000000"/>
                </a:solidFill>
                <a:latin typeface="Arial"/>
              </a:rPr>
              <a:t>ruff blocking, pytest with an enforced coverage floor, Codecov reporting on every push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150">
                <a:solidFill>
                  <a:srgbClr val="000000"/>
                </a:solidFill>
                <a:latin typeface="Arial"/>
              </a:rPr>
              <a:t>- </a:t>
            </a:r>
            <a:r>
              <a:rPr sz="1150" b="1">
                <a:solidFill>
                  <a:srgbClr val="000000"/>
                </a:solidFill>
                <a:latin typeface="Arial"/>
              </a:rPr>
              <a:t>Structure: </a:t>
            </a:r>
            <a:r>
              <a:rPr sz="1150" b="0">
                <a:solidFill>
                  <a:srgbClr val="000000"/>
                </a:solidFill>
                <a:latin typeface="Arial"/>
              </a:rPr>
              <a:t>config, generators, ingesters, streaming, diagnostics and utils packages; retry with jittered backoff; structured logging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150">
                <a:solidFill>
                  <a:srgbClr val="000000"/>
                </a:solidFill>
                <a:latin typeface="Arial"/>
              </a:rPr>
              <a:t>- </a:t>
            </a:r>
            <a:r>
              <a:rPr sz="1150" b="1">
                <a:solidFill>
                  <a:srgbClr val="000000"/>
                </a:solidFill>
                <a:latin typeface="Arial"/>
              </a:rPr>
              <a:t>Operability: </a:t>
            </a:r>
            <a:r>
              <a:rPr sz="1150" b="0">
                <a:solidFill>
                  <a:srgbClr val="000000"/>
                </a:solidFill>
                <a:latin typeface="Arial"/>
              </a:rPr>
              <a:t>pip install -e . gives monogram-generate, monogram-ingest, monogram-stream and monogram-check commands; pre-commit mirrors CI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291072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4D4D4D"/>
                </a:solidFill>
                <a:latin typeface="Arial"/>
              </a:rPr>
              <a:t>Source: pyproject.toml, python/monogram_etl, .github/workflows/ci.yml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1C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96596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00A9F4"/>
                </a:solidFill>
                <a:latin typeface="Arial"/>
              </a:rPr>
              <a:t>CHAPTER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2468880"/>
            <a:ext cx="9601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 i="0">
                <a:solidFill>
                  <a:srgbClr val="FFFFFF"/>
                </a:solidFill>
                <a:latin typeface="Georgia"/>
              </a:rPr>
              <a:t>Automation and operations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3977639"/>
            <a:ext cx="4754880" cy="15240"/>
          </a:xfrm>
          <a:prstGeom prst="rect">
            <a:avLst/>
          </a:prstGeom>
          <a:solidFill>
            <a:srgbClr val="00A9F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4206240"/>
            <a:ext cx="8686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AAE6F0"/>
                </a:solidFill>
                <a:latin typeface="Arial"/>
              </a:rPr>
              <a:t>Three DAGs, explicit SLOs and a demo the jury can replay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183112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</a:pPr>
            <a:r>
              <a:rPr sz="2100" b="1" i="0">
                <a:solidFill>
                  <a:srgbClr val="000000"/>
                </a:solidFill>
                <a:latin typeface="Georgia"/>
              </a:rPr>
              <a:t>Three DAGs on three clocks: the pipeline never depends on a human remembering to run it.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11183112" cy="203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59775" y="6565392"/>
            <a:ext cx="3931920" cy="292608"/>
          </a:xfrm>
          <a:prstGeom prst="rect">
            <a:avLst/>
          </a:prstGeom>
          <a:solidFill>
            <a:srgbClr val="00A9F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96935" y="6611112"/>
            <a:ext cx="36118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051C2C"/>
                </a:solidFill>
                <a:latin typeface="Arial"/>
              </a:rPr>
              <a:t>Automation and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4D4D4D"/>
                </a:solidFill>
                <a:latin typeface="Arial"/>
              </a:rP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6547104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4D4D4D"/>
                </a:solidFill>
                <a:latin typeface="Arial"/>
              </a:rPr>
              <a:t>Monogram Paris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600200"/>
            <a:ext cx="232312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000000"/>
                </a:solidFill>
                <a:latin typeface="Arial"/>
              </a:rPr>
              <a:t>DAG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63204" y="1600200"/>
            <a:ext cx="131664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000000"/>
                </a:solidFill>
                <a:latin typeface="Arial"/>
              </a:rPr>
              <a:t>Schedule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17008" y="1600200"/>
            <a:ext cx="455974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000000"/>
                </a:solidFill>
                <a:latin typeface="Arial"/>
              </a:rPr>
              <a:t>What it does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13915" y="1600200"/>
            <a:ext cx="24349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000000"/>
                </a:solidFill>
                <a:latin typeface="Arial"/>
              </a:rPr>
              <a:t>On failure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984248"/>
            <a:ext cx="11183112" cy="1397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2139696"/>
            <a:ext cx="2323124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monogram_etl_pipeline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63204" y="2139696"/>
            <a:ext cx="1316644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Every 4 hours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17008" y="2139696"/>
            <a:ext cx="4559747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DDL init, parallel dual-path ingest, dbt build and test, snapshot, all quality assertions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13915" y="2139696"/>
            <a:ext cx="243495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3 retries, exponential backoff, Slack callback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2734056"/>
            <a:ext cx="11183112" cy="6350"/>
          </a:xfrm>
          <a:prstGeom prst="rect">
            <a:avLst/>
          </a:prstGeom>
          <a:solidFill>
            <a:srgbClr val="B3B3B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2798064"/>
            <a:ext cx="2323124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monogram_reference_refresh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63204" y="2798064"/>
            <a:ext cx="1316644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Daily 03:00 UTC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17008" y="2798064"/>
            <a:ext cx="4559747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Refreshes the five master data tables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13915" y="2798064"/>
            <a:ext cx="243495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Same retry contract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3392424"/>
            <a:ext cx="11183112" cy="6350"/>
          </a:xfrm>
          <a:prstGeom prst="rect">
            <a:avLst/>
          </a:prstGeom>
          <a:solidFill>
            <a:srgbClr val="B3B3B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" y="3456432"/>
            <a:ext cx="2323124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monogram_stream_monitor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63204" y="3456432"/>
            <a:ext cx="1316644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Every 5 minutes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17008" y="3456432"/>
            <a:ext cx="4559747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Stream freshness, exactly-once and throughput checks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13915" y="3456432"/>
            <a:ext cx="243495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Fails loudly within minutes of an incident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4050792"/>
            <a:ext cx="11183112" cy="6350"/>
          </a:xfrm>
          <a:prstGeom prst="rect">
            <a:avLst/>
          </a:prstGeom>
          <a:solidFill>
            <a:srgbClr val="B3B3B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2920" y="4480560"/>
            <a:ext cx="105156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150">
                <a:solidFill>
                  <a:srgbClr val="000000"/>
                </a:solidFill>
                <a:latin typeface="Arial"/>
              </a:rPr>
              <a:t>- </a:t>
            </a:r>
            <a:r>
              <a:rPr sz="1150" b="0">
                <a:solidFill>
                  <a:srgbClr val="000000"/>
                </a:solidFill>
                <a:latin typeface="Arial"/>
              </a:rPr>
              <a:t>Business effect: a freshness incident surfaces in at most 5 minutes, not at the next morning standup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6291072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4D4D4D"/>
                </a:solidFill>
                <a:latin typeface="Arial"/>
              </a:rPr>
              <a:t>Source: dags/, dags/callbacks.py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183112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</a:pPr>
            <a:r>
              <a:rPr sz="2100" b="1" i="0">
                <a:solidFill>
                  <a:srgbClr val="000000"/>
                </a:solidFill>
                <a:latin typeface="Georgia"/>
              </a:rPr>
              <a:t>Operations run against five written SLOs, each measured by a named check, not by eyeballing.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11183112" cy="203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59775" y="6565392"/>
            <a:ext cx="3931920" cy="292608"/>
          </a:xfrm>
          <a:prstGeom prst="rect">
            <a:avLst/>
          </a:prstGeom>
          <a:solidFill>
            <a:srgbClr val="00A9F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96935" y="6611112"/>
            <a:ext cx="36118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051C2C"/>
                </a:solidFill>
                <a:latin typeface="Arial"/>
              </a:rPr>
              <a:t>Automation and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4D4D4D"/>
                </a:solidFill>
                <a:latin typeface="Arial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6547104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4D4D4D"/>
                </a:solidFill>
                <a:latin typeface="Arial"/>
              </a:rPr>
              <a:t>Monogram Paris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600200"/>
            <a:ext cx="321777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000000"/>
                </a:solidFill>
                <a:latin typeface="Arial"/>
              </a:rPr>
              <a:t>SLO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57853" y="1600200"/>
            <a:ext cx="34414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000000"/>
                </a:solidFill>
                <a:latin typeface="Arial"/>
              </a:rPr>
              <a:t>Target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36448" y="1600200"/>
            <a:ext cx="411242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000000"/>
                </a:solidFill>
                <a:latin typeface="Arial"/>
              </a:rPr>
              <a:t>Measured by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984248"/>
            <a:ext cx="11183112" cy="1397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139696"/>
            <a:ext cx="3217773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End-to-end pipeline latency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57853" y="2139696"/>
            <a:ext cx="344143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Under 30 minutes per run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36448" y="2139696"/>
            <a:ext cx="411242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Airflow SLA and success callbacks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551176"/>
            <a:ext cx="11183112" cy="6350"/>
          </a:xfrm>
          <a:prstGeom prst="rect">
            <a:avLst/>
          </a:prstGeom>
          <a:solidFill>
            <a:srgbClr val="B3B3B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2615184"/>
            <a:ext cx="3217773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Transactional freshness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57853" y="2615184"/>
            <a:ext cx="344143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Warn at 6 hours, error at 24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36448" y="2615184"/>
            <a:ext cx="411242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assert_data_freshness.sql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3026664"/>
            <a:ext cx="11183112" cy="6350"/>
          </a:xfrm>
          <a:prstGeom prst="rect">
            <a:avLst/>
          </a:prstGeom>
          <a:solidFill>
            <a:srgbClr val="B3B3B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3090672"/>
            <a:ext cx="3217773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Stream freshness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57853" y="3090672"/>
            <a:ext cx="344143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Under 30 minutes, sub-minute typical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36448" y="3090672"/>
            <a:ext cx="411242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assert_stream_freshness.sql, every 5 minutes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3502152"/>
            <a:ext cx="11183112" cy="6350"/>
          </a:xfrm>
          <a:prstGeom prst="rect">
            <a:avLst/>
          </a:prstGeom>
          <a:solidFill>
            <a:srgbClr val="B3B3B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2920" y="3566160"/>
            <a:ext cx="3217773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dbt test pass rate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57853" y="3566160"/>
            <a:ext cx="344143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100 percent of error-severity tests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36448" y="3566160"/>
            <a:ext cx="411242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dbt build in the main DAG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3977640"/>
            <a:ext cx="11183112" cy="6350"/>
          </a:xfrm>
          <a:prstGeom prst="rect">
            <a:avLst/>
          </a:prstGeom>
          <a:solidFill>
            <a:srgbClr val="B3B3B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2920" y="4041648"/>
            <a:ext cx="3217773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Run success rate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57853" y="4041648"/>
            <a:ext cx="344143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95 percent or better over 7 days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36448" y="4041648"/>
            <a:ext cx="411242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Airflow run history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4453128"/>
            <a:ext cx="11183112" cy="6350"/>
          </a:xfrm>
          <a:prstGeom prst="rect">
            <a:avLst/>
          </a:prstGeom>
          <a:solidFill>
            <a:srgbClr val="B3B3B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2920" y="6291072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4D4D4D"/>
                </a:solidFill>
                <a:latin typeface="Arial"/>
              </a:rPr>
              <a:t>Source: docs/MONITORING.md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183112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</a:pPr>
            <a:r>
              <a:rPr sz="2100" b="1" i="0">
                <a:solidFill>
                  <a:srgbClr val="000000"/>
                </a:solidFill>
                <a:latin typeface="Georgia"/>
              </a:rPr>
              <a:t>The same pipeline the jury will audit is the one the operator watches every day.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11183112" cy="203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59775" y="6565392"/>
            <a:ext cx="3931920" cy="292608"/>
          </a:xfrm>
          <a:prstGeom prst="rect">
            <a:avLst/>
          </a:prstGeom>
          <a:solidFill>
            <a:srgbClr val="00A9F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96935" y="6611112"/>
            <a:ext cx="36118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051C2C"/>
                </a:solidFill>
                <a:latin typeface="Arial"/>
              </a:rPr>
              <a:t>Automation and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4D4D4D"/>
                </a:solidFill>
                <a:latin typeface="Arial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6547104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4D4D4D"/>
                </a:solidFill>
                <a:latin typeface="Arial"/>
              </a:rPr>
              <a:t>Monogram Paris Data</a:t>
            </a:r>
          </a:p>
        </p:txBody>
      </p:sp>
      <p:pic>
        <p:nvPicPr>
          <p:cNvPr id="9" name="Picture 8" descr="dashboard_real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45920"/>
            <a:ext cx="5394960" cy="3596640"/>
          </a:xfrm>
          <a:prstGeom prst="rect">
            <a:avLst/>
          </a:prstGeom>
          <a:ln w="9525">
            <a:solidFill>
              <a:srgbClr val="B3B3B3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502920" y="5315712"/>
            <a:ext cx="5394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4D4D4D"/>
                </a:solidFill>
                <a:latin typeface="Arial"/>
              </a:rPr>
              <a:t>Live stream panel: latency, partitions, freshness</a:t>
            </a:r>
          </a:p>
        </p:txBody>
      </p:sp>
      <p:pic>
        <p:nvPicPr>
          <p:cNvPr id="11" name="Picture 10" descr="dashboard_busines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645920"/>
            <a:ext cx="5394960" cy="3596640"/>
          </a:xfrm>
          <a:prstGeom prst="rect">
            <a:avLst/>
          </a:prstGeom>
          <a:ln w="9525">
            <a:solidFill>
              <a:srgbClr val="B3B3B3"/>
            </a:solidFill>
          </a:ln>
        </p:spPr>
      </p:pic>
      <p:sp>
        <p:nvSpPr>
          <p:cNvPr id="12" name="TextBox 11"/>
          <p:cNvSpPr txBox="1"/>
          <p:nvPr/>
        </p:nvSpPr>
        <p:spPr>
          <a:xfrm>
            <a:off x="6309360" y="5315712"/>
            <a:ext cx="5394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4D4D4D"/>
                </a:solidFill>
                <a:latin typeface="Arial"/>
              </a:rPr>
              <a:t>Business panel: revenue by channel and country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291072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4D4D4D"/>
                </a:solidFill>
                <a:latin typeface="Arial"/>
              </a:rPr>
              <a:t>Source: dashboard/streamlit_app.py; docs/screenshots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183112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</a:pPr>
            <a:r>
              <a:rPr sz="2100" b="1" i="0">
                <a:solidFill>
                  <a:srgbClr val="000000"/>
                </a:solidFill>
                <a:latin typeface="Georgia"/>
              </a:rPr>
              <a:t>Three minutes from a Kafka event to a governed dashboard, live in front of the jury.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11183112" cy="203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59775" y="6565392"/>
            <a:ext cx="3931920" cy="292608"/>
          </a:xfrm>
          <a:prstGeom prst="rect">
            <a:avLst/>
          </a:prstGeom>
          <a:solidFill>
            <a:srgbClr val="00A9F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96935" y="6611112"/>
            <a:ext cx="36118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051C2C"/>
                </a:solidFill>
                <a:latin typeface="Arial"/>
              </a:rPr>
              <a:t>Automation and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4D4D4D"/>
                </a:solidFill>
                <a:latin typeface="Arial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6547104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4D4D4D"/>
                </a:solidFill>
                <a:latin typeface="Arial"/>
              </a:rPr>
              <a:t>Monogram Paris Data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02920" y="2971800"/>
            <a:ext cx="11183112" cy="0"/>
          </a:xfrm>
          <a:prstGeom prst="line">
            <a:avLst/>
          </a:prstGeom>
          <a:ln w="15240">
            <a:solidFill>
              <a:srgbClr val="000000"/>
            </a:solidFill>
          </a:ln>
          <a:effectLst/>
        </p:spPr>
      </p:cxnSp>
      <p:cxnSp>
        <p:nvCxnSpPr>
          <p:cNvPr id="10" name="Connector 9"/>
          <p:cNvCxnSpPr/>
          <p:nvPr/>
        </p:nvCxnSpPr>
        <p:spPr>
          <a:xfrm>
            <a:off x="502920" y="2971800"/>
            <a:ext cx="0" cy="73152"/>
          </a:xfrm>
          <a:prstGeom prst="line">
            <a:avLst/>
          </a:prstGeom>
          <a:ln w="12700">
            <a:solidFill>
              <a:srgbClr val="000000"/>
            </a:solidFill>
          </a:ln>
          <a:effectLst/>
        </p:spPr>
      </p:cxnSp>
      <p:sp>
        <p:nvSpPr>
          <p:cNvPr id="11" name="TextBox 10"/>
          <p:cNvSpPr txBox="1"/>
          <p:nvPr/>
        </p:nvSpPr>
        <p:spPr>
          <a:xfrm>
            <a:off x="228600" y="3081528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0" i="0">
                <a:solidFill>
                  <a:srgbClr val="4D4D4D"/>
                </a:solidFill>
                <a:latin typeface="Arial"/>
              </a:rPr>
              <a:t>0:00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230624" y="2971800"/>
            <a:ext cx="0" cy="73152"/>
          </a:xfrm>
          <a:prstGeom prst="line">
            <a:avLst/>
          </a:prstGeom>
          <a:ln w="12700">
            <a:solidFill>
              <a:srgbClr val="000000"/>
            </a:solidFill>
          </a:ln>
          <a:effectLst/>
        </p:spPr>
      </p:cxnSp>
      <p:sp>
        <p:nvSpPr>
          <p:cNvPr id="13" name="TextBox 12"/>
          <p:cNvSpPr txBox="1"/>
          <p:nvPr/>
        </p:nvSpPr>
        <p:spPr>
          <a:xfrm>
            <a:off x="3956304" y="3081528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0" i="0">
                <a:solidFill>
                  <a:srgbClr val="4D4D4D"/>
                </a:solidFill>
                <a:latin typeface="Arial"/>
              </a:rPr>
              <a:t>1:00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958328" y="2971800"/>
            <a:ext cx="0" cy="73152"/>
          </a:xfrm>
          <a:prstGeom prst="line">
            <a:avLst/>
          </a:prstGeom>
          <a:ln w="12700">
            <a:solidFill>
              <a:srgbClr val="000000"/>
            </a:solidFill>
          </a:ln>
          <a:effectLst/>
        </p:spPr>
      </p:cxnSp>
      <p:sp>
        <p:nvSpPr>
          <p:cNvPr id="15" name="TextBox 14"/>
          <p:cNvSpPr txBox="1"/>
          <p:nvPr/>
        </p:nvSpPr>
        <p:spPr>
          <a:xfrm>
            <a:off x="7684008" y="3081528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0" i="0">
                <a:solidFill>
                  <a:srgbClr val="4D4D4D"/>
                </a:solidFill>
                <a:latin typeface="Arial"/>
              </a:rPr>
              <a:t>2:00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1686032" y="2971800"/>
            <a:ext cx="0" cy="73152"/>
          </a:xfrm>
          <a:prstGeom prst="line">
            <a:avLst/>
          </a:prstGeom>
          <a:ln w="12700">
            <a:solidFill>
              <a:srgbClr val="000000"/>
            </a:solidFill>
          </a:ln>
          <a:effectLst/>
        </p:spPr>
      </p:cxnSp>
      <p:sp>
        <p:nvSpPr>
          <p:cNvPr id="17" name="TextBox 16"/>
          <p:cNvSpPr txBox="1"/>
          <p:nvPr/>
        </p:nvSpPr>
        <p:spPr>
          <a:xfrm>
            <a:off x="11411712" y="3081528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0" i="0">
                <a:solidFill>
                  <a:srgbClr val="4D4D4D"/>
                </a:solidFill>
                <a:latin typeface="Arial"/>
              </a:rPr>
              <a:t>3:00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2359152"/>
            <a:ext cx="2927299" cy="502920"/>
          </a:xfrm>
          <a:prstGeom prst="rect">
            <a:avLst/>
          </a:prstGeom>
          <a:solidFill>
            <a:srgbClr val="051C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6072" y="2468880"/>
            <a:ext cx="2799283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Ingest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1208" y="3429000"/>
            <a:ext cx="2845003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900" b="0" i="0">
                <a:solidFill>
                  <a:srgbClr val="4D4D4D"/>
                </a:solidFill>
                <a:latin typeface="Arial"/>
              </a:rPr>
              <a:t>Produce 150 events to Redpanda; consumer lands them in STREAM_SALES with offset tokens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485083" y="2359152"/>
            <a:ext cx="2927299" cy="502920"/>
          </a:xfrm>
          <a:prstGeom prst="rect">
            <a:avLst/>
          </a:prstGeom>
          <a:solidFill>
            <a:srgbClr val="2251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558235" y="2468880"/>
            <a:ext cx="2799283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Transform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03371" y="3429000"/>
            <a:ext cx="2845003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900" b="0" i="0">
                <a:solidFill>
                  <a:srgbClr val="4D4D4D"/>
                </a:solidFill>
                <a:latin typeface="Arial"/>
              </a:rPr>
              <a:t>dbt build: staging, star schema, realtime fact; 30+ tests green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67246" y="2359152"/>
            <a:ext cx="2554528" cy="502920"/>
          </a:xfrm>
          <a:prstGeom prst="rect">
            <a:avLst/>
          </a:prstGeom>
          <a:solidFill>
            <a:srgbClr val="00A9F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40398" y="2468880"/>
            <a:ext cx="242651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000000"/>
                </a:solidFill>
                <a:latin typeface="Arial"/>
              </a:rPr>
              <a:t>Verify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85534" y="3429000"/>
            <a:ext cx="2472232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900" b="0" i="0">
                <a:solidFill>
                  <a:srgbClr val="4D4D4D"/>
                </a:solidFill>
                <a:latin typeface="Arial"/>
              </a:rPr>
              <a:t>Validation suite: freshness, integrity, exactly-once all pass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76639" y="2359152"/>
            <a:ext cx="2554528" cy="502920"/>
          </a:xfrm>
          <a:prstGeom prst="rect">
            <a:avLst/>
          </a:prstGeom>
          <a:solidFill>
            <a:srgbClr val="AAE6F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9791" y="2468880"/>
            <a:ext cx="242651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000000"/>
                </a:solidFill>
                <a:latin typeface="Arial"/>
              </a:rPr>
              <a:t>Serve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94927" y="3429000"/>
            <a:ext cx="2472232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900" b="0" i="0">
                <a:solidFill>
                  <a:srgbClr val="4D4D4D"/>
                </a:solidFill>
                <a:latin typeface="Arial"/>
              </a:rPr>
              <a:t>Streamlit: live latency and partitions, then revenue by channel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512064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150">
                <a:solidFill>
                  <a:srgbClr val="000000"/>
                </a:solidFill>
                <a:latin typeface="Arial"/>
              </a:rPr>
              <a:t>- </a:t>
            </a:r>
            <a:r>
              <a:rPr sz="1150" b="0">
                <a:solidFill>
                  <a:srgbClr val="000000"/>
                </a:solidFill>
                <a:latin typeface="Arial"/>
              </a:rPr>
              <a:t>demo.sh automates every step shown; the dry-run mode proves the stack without a Snowflake account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6291072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4D4D4D"/>
                </a:solidFill>
                <a:latin typeface="Arial"/>
              </a:rPr>
              <a:t>Source: demo.sh, docs/LOOM_SCRIPT.md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183112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</a:pPr>
            <a:r>
              <a:rPr sz="2100" b="1" i="0">
                <a:solidFill>
                  <a:srgbClr val="000000"/>
                </a:solidFill>
                <a:latin typeface="Georgia"/>
              </a:rPr>
              <a:t>Remaining gaps are documented tiers of work with named triggers, not blind spots.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11183112" cy="203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59775" y="6565392"/>
            <a:ext cx="3931920" cy="292608"/>
          </a:xfrm>
          <a:prstGeom prst="rect">
            <a:avLst/>
          </a:prstGeom>
          <a:solidFill>
            <a:srgbClr val="00A9F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96935" y="6611112"/>
            <a:ext cx="36118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051C2C"/>
                </a:solidFill>
                <a:latin typeface="Arial"/>
              </a:rPr>
              <a:t>Automation and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4D4D4D"/>
                </a:solidFill>
                <a:latin typeface="Arial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6547104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4D4D4D"/>
                </a:solidFill>
                <a:latin typeface="Arial"/>
              </a:rPr>
              <a:t>Monogram Paris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600200"/>
            <a:ext cx="36650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000000"/>
                </a:solidFill>
                <a:latin typeface="Arial"/>
              </a:rPr>
              <a:t>Current limit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05178" y="1600200"/>
            <a:ext cx="3888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000000"/>
                </a:solidFill>
                <a:latin typeface="Arial"/>
              </a:rPr>
              <a:t>Why it is acceptable today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31098" y="1600200"/>
            <a:ext cx="321777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000000"/>
                </a:solidFill>
                <a:latin typeface="Arial"/>
              </a:rPr>
              <a:t>Next increment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984248"/>
            <a:ext cx="11183112" cy="1397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139696"/>
            <a:ext cx="366509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INSERT-only ingestion is not idempotent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05178" y="2139696"/>
            <a:ext cx="388876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Data is regenerated between runs; contracts are documented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31098" y="2139696"/>
            <a:ext cx="3217773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MERGE-based ingestion keyed on business ids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679192"/>
            <a:ext cx="11183112" cy="6350"/>
          </a:xfrm>
          <a:prstGeom prst="rect">
            <a:avLst/>
          </a:prstGeom>
          <a:solidFill>
            <a:srgbClr val="B3B3B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2743200"/>
            <a:ext cx="366509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No dead-letter queue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05178" y="2743200"/>
            <a:ext cx="388876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A bad row fails the whole batch loudly, which is safe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31098" y="2743200"/>
            <a:ext cx="3217773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Row-level DLQ with tolerance thresholds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3282696"/>
            <a:ext cx="11183112" cy="6350"/>
          </a:xfrm>
          <a:prstGeom prst="rect">
            <a:avLst/>
          </a:prstGeom>
          <a:solidFill>
            <a:srgbClr val="B3B3B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3346704"/>
            <a:ext cx="366509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Monitoring is queries plus a dashboard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05178" y="3346704"/>
            <a:ext cx="388876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Snowflake ACCOUNT_USAGE already covers cost and logins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31098" y="3346704"/>
            <a:ext cx="3217773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Prometheus and Grafana for persistent metrics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3886200"/>
            <a:ext cx="11183112" cy="6350"/>
          </a:xfrm>
          <a:prstGeom prst="rect">
            <a:avLst/>
          </a:prstGeom>
          <a:solidFill>
            <a:srgbClr val="B3B3B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2920" y="6291072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4D4D4D"/>
                </a:solidFill>
                <a:latin typeface="Arial"/>
              </a:rPr>
              <a:t>Source: docs/ERROR_HANDLING.md, docs/MONITORING.md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1C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828800"/>
            <a:ext cx="86868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FFFFFF"/>
                </a:solidFill>
                <a:latin typeface="Georgia"/>
              </a:rPr>
              <a:t>A pipeline the jury can replay,
check and break on purpose.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657600"/>
            <a:ext cx="82296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AAE6F0"/>
                </a:solidFill>
                <a:latin typeface="Arial"/>
              </a:rPr>
              <a:t>• </a:t>
            </a:r>
            <a:r>
              <a:rPr sz="1300" b="0">
                <a:solidFill>
                  <a:srgbClr val="AAE6F0"/>
                </a:solidFill>
                <a:latin typeface="Arial"/>
              </a:rPr>
              <a:t>Live demo: ingestion, transformation, validation, dashboard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AAE6F0"/>
                </a:solidFill>
                <a:latin typeface="Arial"/>
              </a:rPr>
              <a:t>• </a:t>
            </a:r>
            <a:r>
              <a:rPr sz="1300" b="0">
                <a:solidFill>
                  <a:srgbClr val="AAE6F0"/>
                </a:solidFill>
                <a:latin typeface="Arial"/>
              </a:rPr>
              <a:t>Typed, tested, linted package; quality gates enforced in CI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AAE6F0"/>
                </a:solidFill>
                <a:latin typeface="Arial"/>
              </a:rPr>
              <a:t>• </a:t>
            </a:r>
            <a:r>
              <a:rPr sz="1300" b="0">
                <a:solidFill>
                  <a:srgbClr val="AAE6F0"/>
                </a:solidFill>
                <a:latin typeface="Arial"/>
              </a:rPr>
              <a:t>Security incident documented and history purged before publication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AAE6F0"/>
                </a:solidFill>
                <a:latin typeface="Arial"/>
              </a:rPr>
              <a:t>Enzo Berreur, RNCP Bloc 3, June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